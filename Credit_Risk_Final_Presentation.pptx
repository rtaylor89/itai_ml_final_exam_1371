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a:t>
            </a:r>
            <a:br>
              <a:rPr lang="en-US"/>
            </a:br>
            <a:br>
              <a:rPr lang="en-US"/>
            </a:br>
            <a:r>
              <a:rPr lang="en-US"/>
              <a:t>This project is a binary classification project using the Kaggle Credit Risk Dataset. The main goal was predicting loan_status, where 1 represents default risk and 0 represents non-default.</a:t>
            </a:r>
            <a:br>
              <a:rPr lang="en-US"/>
            </a:br>
            <a:br>
              <a:rPr lang="en-US"/>
            </a:br>
            <a:r>
              <a:rPr lang="en-US"/>
              <a:t>At first I thought the hardest part would be training the models themselves, but while building the notebook I realized most of the real work was actually in preprocessing - cleaning the data, engineering features, and understanding why certain transformations mattered.</a:t>
            </a:r>
            <a:br>
              <a:rPr lang="en-US"/>
            </a:br>
            <a:br>
              <a:rPr lang="en-US"/>
            </a:br>
            <a:r>
              <a:rPr lang="en-US"/>
              <a:t>The workflow includes cleaning the dataset, engineering features, training multiple classifiers, comparing metrics, and testing ensemble approaches.</a:t>
            </a:r>
            <a:br>
              <a:rPr lang="en-US"/>
            </a:br>
            <a:br>
              <a:rPr lang="en-US"/>
            </a:br>
            <a:r>
              <a:rPr lang="en-US"/>
              <a:t>I want to emphasize this project was very iterative. A lot of the final decisions came from testing, researching, asking questions, and correcting earlier mistakes - not from already knowing the perfect answer at the start.</a:t>
            </a:r>
            <a:br>
              <a:rPr lang="en-US"/>
            </a:br>
            <a:br>
              <a:rPr lang="en-US"/>
            </a:br>
            <a:r>
              <a:rPr lang="en-US"/>
              <a:t>I'll start with some vocabulary so we are all on the same page, then walk through what I built and what I learned.</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 ROADMAP.</a:t>
            </a:r>
            <a:br>
              <a:rPr lang="en-US"/>
            </a:br>
            <a:br>
              <a:rPr lang="en-US"/>
            </a:br>
            <a:r>
              <a:rPr lang="en-US"/>
              <a:t>Quick map of where we're going so nobody gets lost.</a:t>
            </a:r>
            <a:br>
              <a:rPr lang="en-US"/>
            </a:br>
            <a:br>
              <a:rPr lang="en-US"/>
            </a:br>
            <a:r>
              <a:rPr lang="en-US"/>
              <a:t>First, three slides of vocabulary. I'll define every term I'm about to use so the whole audience - whether you're comfortable writing ML code or not - can follow the rest of the talk.</a:t>
            </a:r>
            <a:br>
              <a:rPr lang="en-US"/>
            </a:br>
            <a:br>
              <a:rPr lang="en-US"/>
            </a:br>
            <a:r>
              <a:rPr lang="en-US"/>
              <a:t>Then the actual project: what we're predicting, how we split the data, how we cleaned it, what models we tried, how we combined them, and what I learned.</a:t>
            </a:r>
            <a:br>
              <a:rPr lang="en-US"/>
            </a:br>
            <a:br>
              <a:rPr lang="en-US"/>
            </a:br>
            <a:r>
              <a:rPr lang="en-US"/>
              <a:t>Stop me at any point if a term needs more explanation. I'd rather slow down here than have anyone lost by the end.</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3 - VOCAB 1.</a:t>
            </a:r>
            <a:br>
              <a:rPr lang="en-US"/>
            </a:br>
            <a:br>
              <a:rPr lang="en-US"/>
            </a:br>
            <a:r>
              <a:rPr lang="en-US"/>
              <a:t>I'm going to define everything I'm about to use so nobody is left behind.</a:t>
            </a:r>
            <a:br>
              <a:rPr lang="en-US"/>
            </a:br>
            <a:br>
              <a:rPr lang="en-US"/>
            </a:br>
            <a:r>
              <a:rPr lang="en-US"/>
              <a:t>A FEATURE is an input column - income, age, loan amount. A TARGET is what we're trying to predict - here it's loan_status. BINARY CLASSIFICATION just means the answer is yes or no, default or no default.</a:t>
            </a:r>
            <a:br>
              <a:rPr lang="en-US"/>
            </a:br>
            <a:br>
              <a:rPr lang="en-US"/>
            </a:br>
            <a:r>
              <a:rPr lang="en-US"/>
              <a:t>CLASS IMBALANCE is when one answer is way more common. Our data is 78 percent non-default. That matters because a model that always says "no default" is right 78 percent of the time without doing anything useful.</a:t>
            </a:r>
            <a:br>
              <a:rPr lang="en-US"/>
            </a:br>
            <a:br>
              <a:rPr lang="en-US"/>
            </a:br>
            <a:r>
              <a:rPr lang="en-US"/>
              <a:t>A TRAIN/TEST SPLIT is the most basic discipline in ML. You let the model see some of your data to learn from, then you quiz it on data it has never seen. That second number is the only honest measure of how good the model actually is.</a:t>
            </a:r>
            <a:br>
              <a:rPr lang="en-US"/>
            </a:br>
            <a:br>
              <a:rPr lang="en-US"/>
            </a:br>
            <a:r>
              <a:rPr lang="en-US"/>
              <a:t>A MODEL is just a function that takes the features and predicts the target. Different model types - decision trees, neural networks, linear regression - learn patterns in different ways, but they all play the same role.</a:t>
            </a:r>
            <a:br>
              <a:rPr lang="en-US"/>
            </a:br>
            <a:endParaRPr/>
          </a:p>
          <a:p>
            <a:pPr indent="0" lvl="0" marL="0" rtl="0" algn="l">
              <a:spcBef>
                <a:spcPts val="0"/>
              </a:spcBef>
              <a:spcAft>
                <a:spcPts val="0"/>
              </a:spcAft>
              <a:buNone/>
            </a:pPr>
            <a:r>
              <a:rPr lang="en-US"/>
              <a:t>Everything else builds on these six terms.</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4 - VOCAB 2, METRICS.</a:t>
            </a:r>
            <a:br>
              <a:rPr lang="en-US"/>
            </a:br>
            <a:br>
              <a:rPr lang="en-US"/>
            </a:br>
            <a:r>
              <a:rPr lang="en-US"/>
              <a:t>These are the metrics I'll be quoting throughout the rest of the talk. They are the language of model evaluation.</a:t>
            </a:r>
            <a:br>
              <a:rPr lang="en-US"/>
            </a:br>
            <a:br>
              <a:rPr lang="en-US"/>
            </a:br>
            <a:r>
              <a:rPr lang="en-US"/>
              <a:t>ACCURACY is what most people think of first - what fraction of predictions are correct. The catch is that on imbalanced data, accuracy lies. A model that always predicts "no default" is automatically 78 percent accurate on our data. That is not a useful model.</a:t>
            </a:r>
            <a:br>
              <a:rPr lang="en-US"/>
            </a:br>
            <a:br>
              <a:rPr lang="en-US"/>
            </a:br>
            <a:r>
              <a:rPr lang="en-US"/>
              <a:t>PRECISION and RECALL are the smoke-alarm pair. PRECISION asks: when the alarm goes off, how often is there really a fire? RECALL asks: out of all the actual fires, how many did the alarm catch? You almost always have to trade them off against each other.</a:t>
            </a:r>
            <a:br>
              <a:rPr lang="en-US"/>
            </a:br>
            <a:br>
              <a:rPr lang="en-US"/>
            </a:br>
            <a:r>
              <a:rPr lang="en-US"/>
              <a:t>F1-SCORE is a balanced average of precision and recall - it's a single number that punishes you for being weak on either side.</a:t>
            </a:r>
            <a:br>
              <a:rPr lang="en-US"/>
            </a:br>
            <a:br>
              <a:rPr lang="en-US"/>
            </a:br>
            <a:r>
              <a:rPr lang="en-US"/>
              <a:t>ROC-AUC is the metric I leaned on most. It measures how well the model separates the two classes across every possible threshold, not just the default 0.5. A score of 0.5 is a coin flip. A score of 1.0 is perfect separation. We hit 0.93 on the best models, which is strong.</a:t>
            </a:r>
            <a:br>
              <a:rPr lang="en-US"/>
            </a:br>
            <a:br>
              <a:rPr lang="en-US"/>
            </a:br>
            <a:r>
              <a:rPr lang="en-US"/>
              <a:t>THRESHOLD is the cutoff that turns a probability into a yes-or-no prediction. Default is 0.5, but you can move it. Lower threshold catches more defaulters but raises more false alarms. This is the knob you'd tune in a real lending system.</a:t>
            </a:r>
            <a:br>
              <a:rPr lang="en-US"/>
            </a:br>
            <a:br>
              <a:rPr lang="en-US"/>
            </a:br>
            <a:r>
              <a:rPr lang="en-US"/>
              <a:t>After researching all four metrics, ROC-AUC ended up being the most useful overall comparison metric for this dataset.</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5 - VOCAB 3.</a:t>
            </a:r>
            <a:br>
              <a:rPr lang="en-US"/>
            </a:br>
            <a:br>
              <a:rPr lang="en-US"/>
            </a:br>
            <a:r>
              <a:rPr lang="en-US"/>
              <a:t>Last vocabulary slide. These six come up repeatedly in the rest of the talk.</a:t>
            </a:r>
            <a:br>
              <a:rPr lang="en-US"/>
            </a:br>
            <a:br>
              <a:rPr lang="en-US"/>
            </a:br>
            <a:r>
              <a:rPr lang="en-US"/>
              <a:t>SKEW is when most values are clustered low but a few are huge. Income is the textbook example - most people earn 40 to 80k, but a few earn millions. That makes the data look lopsided.</a:t>
            </a:r>
            <a:br>
              <a:rPr lang="en-US"/>
            </a:br>
            <a:br>
              <a:rPr lang="en-US"/>
            </a:br>
            <a:r>
              <a:rPr lang="en-US"/>
              <a:t>LOG TRANSFORM fixes skew. You take the log of each value, which compresses huge numbers down. The math is just log of the value, but the effect is dramatic - I'll show you the actual numbers in a few slides.</a:t>
            </a:r>
            <a:br>
              <a:rPr lang="en-US"/>
            </a:br>
            <a:br>
              <a:rPr lang="en-US"/>
            </a:br>
            <a:r>
              <a:rPr lang="en-US"/>
              <a:t>DATA LEAKAGE is the scariest mistake in ML. It's when information from your test set accidentally sneaks into your training process. Your scores look great, but they're a lie. The whole reason we hold the test set out is to prevent this.</a:t>
            </a:r>
            <a:br>
              <a:rPr lang="en-US"/>
            </a:br>
            <a:br>
              <a:rPr lang="en-US"/>
            </a:br>
            <a:r>
              <a:rPr lang="en-US" sz="1100">
                <a:latin typeface="Arial"/>
                <a:ea typeface="Arial"/>
                <a:cs typeface="Arial"/>
                <a:sym typeface="Arial"/>
              </a:rPr>
              <a:t>ENCODING turns text categories into numbers because models can only do math on numbers, not words. But </a:t>
            </a:r>
            <a:r>
              <a:rPr i="1" lang="en-US" sz="1100">
                <a:latin typeface="Arial"/>
                <a:ea typeface="Arial"/>
                <a:cs typeface="Arial"/>
                <a:sym typeface="Arial"/>
              </a:rPr>
              <a:t>how</a:t>
            </a:r>
            <a:r>
              <a:rPr lang="en-US" sz="1100">
                <a:latin typeface="Arial"/>
                <a:ea typeface="Arial"/>
                <a:cs typeface="Arial"/>
                <a:sym typeface="Arial"/>
              </a:rPr>
              <a:t> you do it matters.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ordered things like loan grades A through G, I used 1 through 7. The model now sees G as "further from" A than B is, which matches reality.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unordered things like loan intent — education, medical, debt consolidation — that approach fails. If I numbered them 1 through 6, the model would assume venture (5) is closer to personal (6) than to education (1), inventing an order that isn't there.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those use one-hot encoding instead: each category gets its own yes/no column. Loan intent becomes six columns, with a 1 in exactly one of them per row. No false ordering, because every category sits at the same "distance" from every other.</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Rule of thumb: if categories have a real order, use ordered numbers in one column. If not, give each its own column.</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br>
              <a:rPr lang="en-US"/>
            </a:br>
            <a:r>
              <a:rPr lang="en-US"/>
              <a:t>SCALING squeezes all your features into a similar range, usually 0 to 1. Some models get confused when one feature ranges 0 to 10 and another ranges 0 to 1,000,000. Scaling levels the playing field.</a:t>
            </a:r>
            <a:br>
              <a:rPr lang="en-US"/>
            </a:br>
            <a:br>
              <a:rPr lang="en-US"/>
            </a:br>
            <a:r>
              <a:rPr lang="en-US"/>
              <a:t>ENSEMBLE means combining multiple models. Instead of trusting one model, you let several of them vote or average their predictions. We'll see two ensemble strategies later, and they don't behave the same way.</a:t>
            </a:r>
            <a:br>
              <a:rPr lang="en-US"/>
            </a:br>
            <a:br>
              <a:rPr lang="en-US"/>
            </a:br>
            <a:r>
              <a:rPr lang="en-US"/>
              <a:t>After this slide we're out of the vocabulary zone and into the real project.</a:t>
            </a:r>
            <a:endParaRPr/>
          </a:p>
        </p:txBody>
      </p:sp>
      <p:sp>
        <p:nvSpPr>
          <p:cNvPr id="160" name="Google Shape;1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6 - THE PROBLEM AND THE DATA.</a:t>
            </a:r>
            <a:br>
              <a:rPr lang="en-US"/>
            </a:br>
            <a:br>
              <a:rPr lang="en-US"/>
            </a:br>
            <a:r>
              <a:rPr lang="en-US"/>
              <a:t>The dataset has about 32,000 rows and is imbalanced - most loans are non-default.</a:t>
            </a:r>
            <a:br>
              <a:rPr lang="en-US"/>
            </a:br>
            <a:br>
              <a:rPr lang="en-US"/>
            </a:br>
            <a:r>
              <a:rPr lang="en-US"/>
              <a:t>One thing I learned pretty quickly was that accuracy by itself can be misleading on imbalanced datasets. A model could achieve high accuracy just by predicting the majority class.</a:t>
            </a:r>
            <a:br>
              <a:rPr lang="en-US"/>
            </a:br>
            <a:br>
              <a:rPr lang="en-US"/>
            </a:br>
            <a:r>
              <a:rPr lang="en-US"/>
              <a:t>That's why I started paying much more attention to ROC-AUC, Precision, Recall, and F1-score. We just defined those a moment ago.</a:t>
            </a:r>
            <a:br>
              <a:rPr lang="en-US"/>
            </a:br>
            <a:br>
              <a:rPr lang="en-US"/>
            </a:br>
            <a:r>
              <a:rPr lang="en-US"/>
              <a:t>After researching the metrics more deeply, ROC-AUC ended up being the most useful overall comparison metric for this dataset because it doesn't depend on the threshold and it isn't fooled by the imbalance.</a:t>
            </a:r>
            <a:endParaRPr/>
          </a:p>
        </p:txBody>
      </p:sp>
      <p:sp>
        <p:nvSpPr>
          <p:cNvPr id="208" name="Google Shape;2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7 - SPLITTING THE DATA.</a:t>
            </a:r>
            <a:br>
              <a:rPr lang="en-US"/>
            </a:br>
            <a:br>
              <a:rPr lang="en-US"/>
            </a:br>
            <a:r>
              <a:rPr lang="en-US"/>
              <a:t>One of the biggest things I learned during this project was how important train/test separation is.</a:t>
            </a:r>
            <a:br>
              <a:rPr lang="en-US"/>
            </a:br>
            <a:br>
              <a:rPr lang="en-US"/>
            </a:br>
            <a:r>
              <a:rPr lang="en-US"/>
              <a:t>Originally I thought about the assignment as a simple 70/30 split, but after researching validation workflows I restructured it into 70 percent training, 15 percent validation, 15 percent testing.</a:t>
            </a:r>
            <a:br>
              <a:rPr lang="en-US"/>
            </a:br>
            <a:br>
              <a:rPr lang="en-US"/>
            </a:br>
            <a:r>
              <a:rPr lang="en-US"/>
              <a:t>The way I explain it to myself is that the original 30 percent holdout was split in half. Validation is for comparing models and building the ensemble. The final test set stayed untouched until the very end.</a:t>
            </a:r>
            <a:br>
              <a:rPr lang="en-US"/>
            </a:br>
            <a:br>
              <a:rPr lang="en-US"/>
            </a:br>
            <a:r>
              <a:rPr lang="en-US"/>
              <a:t>I also used stratified sampling, which means each split keeps roughly the same percentage of default vs non-default loans. That helps prevent misleading metrics caused by unlucky random splits.</a:t>
            </a:r>
            <a:br>
              <a:rPr lang="en-US"/>
            </a:br>
            <a:br>
              <a:rPr lang="en-US"/>
            </a:br>
            <a:r>
              <a:rPr lang="en-US"/>
              <a:t>This is the discipline that prevents data leakage, which I defined a couple slides ago. If I peeked at the test set during model selection, I'd be studying the exam answers, and my final score would be a lie.</a:t>
            </a:r>
            <a:endParaRPr/>
          </a:p>
        </p:txBody>
      </p:sp>
      <p:sp>
        <p:nvSpPr>
          <p:cNvPr id="241" name="Google Shape;2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8 - THE LOG TRANSFORM.</a:t>
            </a:r>
            <a:br>
              <a:rPr lang="en-US"/>
            </a:br>
            <a:br>
              <a:rPr lang="en-US"/>
            </a:br>
            <a:r>
              <a:rPr lang="en-US"/>
              <a:t>This section ended up being one of the most important parts of the project.</a:t>
            </a:r>
            <a:br>
              <a:rPr lang="en-US"/>
            </a:br>
            <a:br>
              <a:rPr lang="en-US"/>
            </a:br>
            <a:r>
              <a:rPr lang="en-US"/>
              <a:t>The dataset had major skew in person_income and loan_amnt because a small number of borrowers had extremely large financial values.</a:t>
            </a:r>
            <a:br>
              <a:rPr lang="en-US"/>
            </a:br>
            <a:br>
              <a:rPr lang="en-US"/>
            </a:br>
            <a:r>
              <a:rPr lang="en-US"/>
              <a:t>After researching preprocessing methods and experimenting with different approaches, I used np.log1p.</a:t>
            </a:r>
            <a:br>
              <a:rPr lang="en-US"/>
            </a:br>
            <a:br>
              <a:rPr lang="en-US"/>
            </a:br>
            <a:r>
              <a:rPr lang="en-US"/>
              <a:t>Simple explanation: the log transform compresses extremely large values so they stop dominating the model.</a:t>
            </a:r>
            <a:br>
              <a:rPr lang="en-US"/>
            </a:br>
            <a:br>
              <a:rPr lang="en-US"/>
            </a:br>
            <a:r>
              <a:rPr lang="en-US"/>
              <a:t>One thing that finally made the idea click for me was seeing how a six-million-dollar income value stopped behaving like a massive outlier after the transform. Before the transform, that person was 110 times the median income - completely out of scale. After the transform, they were only 1.4 times the median. The model can finally treat them as just "a high earner" instead of a wrecking ball that dominates everything else.</a:t>
            </a:r>
            <a:br>
              <a:rPr lang="en-US"/>
            </a:br>
            <a:br>
              <a:rPr lang="en-US"/>
            </a:br>
            <a:r>
              <a:rPr lang="en-US"/>
              <a:t>I also learned why log1p matters specifically - normal log breaks at zero, but log1p safely handles zero values.</a:t>
            </a:r>
            <a:br>
              <a:rPr lang="en-US"/>
            </a:br>
            <a:br>
              <a:rPr lang="en-US"/>
            </a:br>
            <a:r>
              <a:rPr lang="en-US"/>
              <a:t>The skew reduction was dramatic: income skew dropped from 32.87 to almost symmetric at 0.16. That helped me understand how heavily preprocessing can influence machine learning results.</a:t>
            </a:r>
            <a:endParaRPr/>
          </a:p>
        </p:txBody>
      </p:sp>
      <p:sp>
        <p:nvSpPr>
          <p:cNvPr id="267" name="Google Shape;2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9 - OTHER CLEANING STEPS.</a:t>
            </a:r>
            <a:br>
              <a:rPr lang="en-US"/>
            </a:br>
            <a:br>
              <a:rPr lang="en-US"/>
            </a:br>
            <a:r>
              <a:rPr lang="en-US"/>
              <a:t>The preprocessing logic changed several times while building the notebook.</a:t>
            </a:r>
            <a:br>
              <a:rPr lang="en-US"/>
            </a:br>
            <a:br>
              <a:rPr lang="en-US"/>
            </a:br>
            <a:r>
              <a:rPr lang="en-US"/>
              <a:t>ONE - CAPPING. One grading correction involved person_emp_length. Originally the extreme 123-year employment value was effectively being scaled with everything else. After researching why that was incorrect, I changed the logic so the value gets capped at 100 instead. Same fix for the 144-year-old age.</a:t>
            </a:r>
            <a:br>
              <a:rPr lang="en-US"/>
            </a:br>
            <a:br>
              <a:rPr lang="en-US"/>
            </a:br>
            <a:r>
              <a:rPr lang="en-US"/>
              <a:t>TWO - FILLING IN BLANKS. Some interest rates and employment lengths were missing. I filled employment length with the training median. For interest rate, I learned that filling with the median PER LOAN GRADE was much more accurate than a single global median, because grade and rate are tightly linked.</a:t>
            </a:r>
            <a:br>
              <a:rPr lang="en-US"/>
            </a:br>
            <a:br>
              <a:rPr lang="en-US"/>
            </a:br>
            <a:r>
              <a:rPr lang="en-US"/>
              <a:t>THREE - NEW FEATURES. I engineered three ratio features - debt-to-income, income per credit year, and credit-history-to-age. One thing I learned while implementing these was that the ratios needed to be created BEFORE the log transform so they still represented meaningful financial relationships in dollar terms.</a:t>
            </a:r>
            <a:br>
              <a:rPr lang="en-US"/>
            </a:br>
            <a:br>
              <a:rPr lang="en-US"/>
            </a:br>
            <a:r>
              <a:rPr lang="en-US"/>
              <a:t>FOUR - ENCODING. Originally I used one-hot encoding for loan_grade, but after thinking about the meaning of the grades more carefully, ordinal encoding made more sense because the grades already represent ordered levels of risk. A=1 through G=7. Other categorical features like home_ownership stayed as one-hot since they don't have a natural order.</a:t>
            </a:r>
            <a:br>
              <a:rPr lang="en-US"/>
            </a:br>
            <a:br>
              <a:rPr lang="en-US"/>
            </a:br>
            <a:r>
              <a:rPr lang="en-US"/>
              <a:t>The footer at the bottom is the discipline that ties everything together. Every value learned during cleaning - medians, categories, scaling ranges - comes from the training set only. That's how we keep the metrics honest.</a:t>
            </a:r>
            <a:endParaRPr/>
          </a:p>
        </p:txBody>
      </p:sp>
      <p:sp>
        <p:nvSpPr>
          <p:cNvPr id="294" name="Google Shape;2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10 - MODEL RESULTS.</a:t>
            </a:r>
            <a:br>
              <a:rPr lang="en-US"/>
            </a:br>
            <a:br>
              <a:rPr lang="en-US"/>
            </a:br>
            <a:r>
              <a:rPr lang="en-US" sz="1100">
                <a:latin typeface="Arial"/>
                <a:ea typeface="Arial"/>
                <a:cs typeface="Arial"/>
                <a:sym typeface="Arial"/>
              </a:rPr>
              <a:t>The project trained six classification models, each from a different family.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Logistic Regression</a:t>
            </a:r>
            <a:r>
              <a:rPr lang="en-US" sz="1100">
                <a:latin typeface="Arial"/>
                <a:ea typeface="Arial"/>
                <a:cs typeface="Arial"/>
                <a:sym typeface="Arial"/>
              </a:rPr>
              <a:t> draws a straight line (or hyperplane) to separate defaulters from non-defaulters. Simple, fast, interpretable.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Decision Tree</a:t>
            </a:r>
            <a:r>
              <a:rPr lang="en-US" sz="1100">
                <a:latin typeface="Arial"/>
                <a:ea typeface="Arial"/>
                <a:cs typeface="Arial"/>
                <a:sym typeface="Arial"/>
              </a:rPr>
              <a:t> asks a series of yes/no questions — "is the loan grade above 4? is income below 50k?" — and follows the answers down to a prediction. Easy to explain to a human.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Random Forest</a:t>
            </a:r>
            <a:r>
              <a:rPr lang="en-US" sz="1100">
                <a:latin typeface="Arial"/>
                <a:ea typeface="Arial"/>
                <a:cs typeface="Arial"/>
                <a:sym typeface="Arial"/>
              </a:rPr>
              <a:t> trains 150 different decision trees on random slices of the data and lets them vote. The averaging cancels out the mistakes of any one tree.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Gradient Boosting</a:t>
            </a:r>
            <a:r>
              <a:rPr lang="en-US" sz="1100">
                <a:latin typeface="Arial"/>
                <a:ea typeface="Arial"/>
                <a:cs typeface="Arial"/>
                <a:sym typeface="Arial"/>
              </a:rPr>
              <a:t> also uses many trees, but trains them sequentially — each new tree focuses on the mistakes the previous trees made. Usually the strongest model on tabular data.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KNN</a:t>
            </a:r>
            <a:r>
              <a:rPr lang="en-US" sz="1100">
                <a:latin typeface="Arial"/>
                <a:ea typeface="Arial"/>
                <a:cs typeface="Arial"/>
                <a:sym typeface="Arial"/>
              </a:rPr>
              <a:t> — K-Nearest Neighbors — doesn't really "learn" a model at all. To predict a new loan, it finds the 7 most similar loans in the training data and lets them vote. Think of it as: </a:t>
            </a:r>
            <a:r>
              <a:rPr i="1" lang="en-US" sz="1100">
                <a:latin typeface="Arial"/>
                <a:ea typeface="Arial"/>
                <a:cs typeface="Arial"/>
                <a:sym typeface="Arial"/>
              </a:rPr>
              <a:t>show me the 7 loans most like this one, and I'll predict whatever the majority of them did.</a:t>
            </a:r>
            <a:r>
              <a:rPr lang="en-US" sz="1100">
                <a:latin typeface="Arial"/>
                <a:ea typeface="Arial"/>
                <a:cs typeface="Arial"/>
                <a:sym typeface="Arial"/>
              </a:rPr>
              <a:t> Simple idea, but sensitive to scaling and to having too many features.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Support Vector Classifier</a:t>
            </a:r>
            <a:r>
              <a:rPr lang="en-US" sz="1100">
                <a:latin typeface="Arial"/>
                <a:ea typeface="Arial"/>
                <a:cs typeface="Arial"/>
                <a:sym typeface="Arial"/>
              </a:rPr>
              <a:t> finds the line that separates the two classes with the widest possible margin between them. Robust, but slower on big datasets.</a:t>
            </a:r>
            <a:endParaRPr sz="1100">
              <a:latin typeface="Arial"/>
              <a:ea typeface="Arial"/>
              <a:cs typeface="Arial"/>
              <a:sym typeface="Arial"/>
            </a:endParaRPr>
          </a:p>
          <a:p>
            <a:pPr indent="0" lvl="0" marL="0" rtl="0" algn="l">
              <a:spcBef>
                <a:spcPts val="1200"/>
              </a:spcBef>
              <a:spcAft>
                <a:spcPts val="0"/>
              </a:spcAft>
              <a:buNone/>
            </a:pPr>
            <a:r>
              <a:rPr lang="en-US"/>
              <a:t>One thing I noticed quickly was that the tree-based models consistently performed better than the linear models. After researching the results more, that started making sense because credit risk relationships are not really linear - default risk depends on combinations of features like grade times income times loan size, and trees handle those interactions naturally.</a:t>
            </a:r>
            <a:br>
              <a:rPr lang="en-US"/>
            </a:br>
            <a:br>
              <a:rPr lang="en-US"/>
            </a:br>
            <a:r>
              <a:rPr lang="en-US"/>
              <a:t>Random Forest and Gradient Boosting both performed around 0.93 ROC-AUC, while the linear models trailed behind around 0.88.</a:t>
            </a:r>
            <a:br>
              <a:rPr lang="en-US"/>
            </a:br>
            <a:br>
              <a:rPr lang="en-US"/>
            </a:br>
            <a:r>
              <a:rPr lang="en-US"/>
              <a:t>Another thing I learned was that recall stayed lower than precision because the dataset is imbalanced and the default threshold was still conservative. Remember from the vocab slide - the threshold is the cutoff that turns probabilities into yes/no. We're using the default 0.50. If this were a real lending tool, you'd tune that threshold based on whether you care more about catching defaulters or avoiding false alarms.</a:t>
            </a:r>
            <a:br>
              <a:rPr lang="en-US"/>
            </a:br>
            <a:br>
              <a:rPr lang="en-US"/>
            </a:br>
            <a:r>
              <a:rPr lang="en-US"/>
              <a:t>Validation and test scores being almost identical is a really good sign - it means the models aren't overfitting to the validation set.</a:t>
            </a:r>
            <a:endParaRPr/>
          </a:p>
        </p:txBody>
      </p:sp>
      <p:sp>
        <p:nvSpPr>
          <p:cNvPr id="324" name="Google Shape;32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11 - COMBINING MODELS.</a:t>
            </a:r>
            <a:br>
              <a:rPr lang="en-US"/>
            </a:br>
            <a:br>
              <a:rPr lang="en-US"/>
            </a:br>
            <a:r>
              <a:rPr lang="en-US"/>
              <a:t>The ensemble section ended up being one of the more interesting parts of the project because I originally assumed combining models would automatically improve every metric. That turned out to be wrong, and the way it was wrong taught me a lot.</a:t>
            </a:r>
            <a:br>
              <a:rPr lang="en-US"/>
            </a:br>
            <a:br>
              <a:rPr lang="en-US"/>
            </a:br>
            <a:r>
              <a:rPr lang="en-US"/>
              <a:t>TRY 1 - VOTING ENSEMBLE. I combined the top three models - Random Forest, Gradient Boosting, Decision Tree. Each model votes yes or no, majority wins. F1-score and accuracy went UP, beating every single base model. But ROC-AUC actually DROPPED, from 0.93 down to 0.86.</a:t>
            </a:r>
            <a:br>
              <a:rPr lang="en-US"/>
            </a:br>
            <a:br>
              <a:rPr lang="en-US"/>
            </a:br>
            <a:r>
              <a:rPr lang="en-US"/>
              <a:t>After researching why, I learned that hard voting only outputs discrete yes/no predictions while ROC-AUC works better with continuous confidence scores. So I had thrown away the information ROC-AUC needs.</a:t>
            </a:r>
            <a:br>
              <a:rPr lang="en-US"/>
            </a:br>
            <a:br>
              <a:rPr lang="en-US"/>
            </a:br>
            <a:r>
              <a:rPr lang="en-US"/>
              <a:t>TRY 2 - WEIGHTED AVERAGE. Instead of each model only voting yes or no, each model contributes a confidence score. The better-performing models receive slightly larger weights based on validation ROC-AUC.</a:t>
            </a:r>
            <a:br>
              <a:rPr lang="en-US"/>
            </a:br>
            <a:br>
              <a:rPr lang="en-US"/>
            </a:br>
            <a:r>
              <a:rPr lang="en-US"/>
              <a:t>The weights ended up close to equal - about one-third each - because the top three models performed very similarly. So this is mostly an unweighted average of confidence scores, with a slight tilt toward Random Forest.</a:t>
            </a:r>
            <a:br>
              <a:rPr lang="en-US"/>
            </a:br>
            <a:br>
              <a:rPr lang="en-US"/>
            </a:br>
            <a:r>
              <a:rPr lang="en-US"/>
              <a:t>This approach recovered the ROC-AUC performance that hard voting lost. Same three models, different combination strategy, +0.07 ROC-AUC.</a:t>
            </a:r>
            <a:br>
              <a:rPr lang="en-US"/>
            </a:br>
            <a:br>
              <a:rPr lang="en-US"/>
            </a:br>
            <a:r>
              <a:rPr lang="en-US"/>
              <a:t>One thing I learned here is that combining models is not just about averaging predictions. The way the predictions are combined matters a lot.</a:t>
            </a:r>
            <a:br>
              <a:rPr lang="en-US"/>
            </a:br>
            <a:br>
              <a:rPr lang="en-US"/>
            </a:br>
            <a:r>
              <a:rPr lang="en-US"/>
              <a:t>I called it "Bayesian-style" because the structure - weighted averaging of model predictions - is similar to Bayesian Model Averaging. But the weights I used are a heuristic based on validation ROC-AUC, not a true posterior probability. So "Bayesian-style" is the honest label.</a:t>
            </a:r>
            <a:endParaRPr/>
          </a:p>
        </p:txBody>
      </p:sp>
      <p:sp>
        <p:nvSpPr>
          <p:cNvPr id="344" name="Google Shape;34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12 - WHAT I LEARNED.</a:t>
            </a:r>
            <a:br>
              <a:rPr lang="en-US"/>
            </a:br>
            <a:br>
              <a:rPr lang="en-US"/>
            </a:br>
            <a:r>
              <a:rPr lang="en-US"/>
              <a:t>The biggest takeaway from this project was realizing that machine learning is much more dependent on preprocessing and data preparation than I originally expected. The model code itself is the easy part. The hard part is figuring out what to feed the model.</a:t>
            </a:r>
            <a:br>
              <a:rPr lang="en-US"/>
            </a:br>
            <a:br>
              <a:rPr lang="en-US"/>
            </a:br>
            <a:r>
              <a:rPr lang="en-US"/>
              <a:t>ONE - CLEANING BEAT MODELING. Most of the improvements came from handling skew correctly, preventing data leakage, engineering better features, and choosing more appropriate encodings.</a:t>
            </a:r>
            <a:br>
              <a:rPr lang="en-US"/>
            </a:br>
            <a:br>
              <a:rPr lang="en-US"/>
            </a:br>
            <a:r>
              <a:rPr lang="en-US"/>
              <a:t>TWO - DISCIPLINE MATTERS. Fitting all preprocessing on training only, locking the test set away, and using stratified sampling. The proof that it worked: validation and test scores nearly matched. No overfitting, no leakage.</a:t>
            </a:r>
            <a:br>
              <a:rPr lang="en-US"/>
            </a:br>
            <a:br>
              <a:rPr lang="en-US"/>
            </a:br>
            <a:r>
              <a:rPr lang="en-US"/>
              <a:t>THREE - COMBINING IS SUBTLE. Hard voting helped F1 but hurt ROC-AUC. Weighted averaging fixed it. The way you combine models matters as much as which models you combine.</a:t>
            </a:r>
            <a:br>
              <a:rPr lang="en-US"/>
            </a:br>
            <a:br>
              <a:rPr lang="en-US"/>
            </a:br>
            <a:r>
              <a:rPr lang="en-US"/>
              <a:t>I also learned that experimentation and iteration matter a lot. Most of the final workflow came from correcting earlier assumptions, researching the feedback, and rebuilding sections of the notebook more carefully.</a:t>
            </a:r>
            <a:br>
              <a:rPr lang="en-US"/>
            </a:br>
            <a:br>
              <a:rPr lang="en-US"/>
            </a:br>
            <a:r>
              <a:rPr lang="en-US"/>
              <a:t>If I kept expanding this project, I'd explore threshold tuning, feature importance analysis, cross-validation for more stable model selection, probability calibration so the scores are interpretable as actual probabilities, and fairness analysis to make sure the model isn't producing disparate outcomes across demographic groups.</a:t>
            </a:r>
            <a:br>
              <a:rPr lang="en-US"/>
            </a:br>
            <a:endParaRPr/>
          </a:p>
        </p:txBody>
      </p:sp>
      <p:sp>
        <p:nvSpPr>
          <p:cNvPr id="377" name="Google Shape;3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3"/>
          <p:cNvSpPr/>
          <p:nvPr/>
        </p:nvSpPr>
        <p:spPr>
          <a:xfrm>
            <a:off x="0" y="0"/>
            <a:ext cx="164592" cy="68580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22960" y="2103120"/>
            <a:ext cx="10515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Credit Risk</a:t>
            </a:r>
            <a:endParaRPr b="0" i="0" sz="6400" u="none" cap="none" strike="noStrike">
              <a:solidFill>
                <a:schemeClr val="dk1"/>
              </a:solidFill>
              <a:latin typeface="Calibri"/>
              <a:ea typeface="Calibri"/>
              <a:cs typeface="Calibri"/>
              <a:sym typeface="Calibri"/>
            </a:endParaRPr>
          </a:p>
        </p:txBody>
      </p:sp>
      <p:sp>
        <p:nvSpPr>
          <p:cNvPr id="18" name="Google Shape;18;p3"/>
          <p:cNvSpPr/>
          <p:nvPr/>
        </p:nvSpPr>
        <p:spPr>
          <a:xfrm>
            <a:off x="822960" y="292608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2800"/>
              <a:buFont typeface="Calibri"/>
              <a:buNone/>
            </a:pPr>
            <a:r>
              <a:rPr b="0" i="0" lang="en-US" sz="2800" u="none" cap="none" strike="noStrike">
                <a:solidFill>
                  <a:srgbClr val="CADCFC"/>
                </a:solidFill>
                <a:latin typeface="Calibri"/>
                <a:ea typeface="Calibri"/>
                <a:cs typeface="Calibri"/>
                <a:sym typeface="Calibri"/>
              </a:rPr>
              <a:t>Predicting Loan Default with Machine Learning</a:t>
            </a:r>
            <a:endParaRPr b="0" i="0" sz="2800" u="none" cap="none" strike="noStrike">
              <a:solidFill>
                <a:schemeClr val="dk1"/>
              </a:solidFill>
              <a:latin typeface="Calibri"/>
              <a:ea typeface="Calibri"/>
              <a:cs typeface="Calibri"/>
              <a:sym typeface="Calibri"/>
            </a:endParaRPr>
          </a:p>
        </p:txBody>
      </p:sp>
      <p:sp>
        <p:nvSpPr>
          <p:cNvPr id="19" name="Google Shape;19;p3"/>
          <p:cNvSpPr/>
          <p:nvPr/>
        </p:nvSpPr>
        <p:spPr>
          <a:xfrm>
            <a:off x="822960" y="361188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800"/>
              <a:buFont typeface="Calibri"/>
              <a:buNone/>
            </a:pPr>
            <a:r>
              <a:rPr b="0" i="1" lang="en-US" sz="1800" u="none" cap="none" strike="noStrike">
                <a:solidFill>
                  <a:srgbClr val="CADCFC"/>
                </a:solidFill>
                <a:latin typeface="Calibri"/>
                <a:ea typeface="Calibri"/>
                <a:cs typeface="Calibri"/>
                <a:sym typeface="Calibri"/>
              </a:rPr>
              <a:t>A walkthrough of what I learned, what broke, and what worked:</a:t>
            </a:r>
            <a:endParaRPr b="0" i="1" sz="1800" u="none" cap="none" strike="noStrike">
              <a:solidFill>
                <a:srgbClr val="CADCFC"/>
              </a:solidFill>
              <a:latin typeface="Calibri"/>
              <a:ea typeface="Calibri"/>
              <a:cs typeface="Calibri"/>
              <a:sym typeface="Calibri"/>
            </a:endParaRPr>
          </a:p>
          <a:p>
            <a:pPr indent="0" lvl="0" marL="0" marR="0" rtl="0" algn="l">
              <a:spcBef>
                <a:spcPts val="0"/>
              </a:spcBef>
              <a:spcAft>
                <a:spcPts val="0"/>
              </a:spcAft>
              <a:buClr>
                <a:srgbClr val="CADCFC"/>
              </a:buClr>
              <a:buSzPts val="1800"/>
              <a:buFont typeface="Calibri"/>
              <a:buNone/>
            </a:pPr>
            <a:r>
              <a:rPr i="1" lang="en-US" sz="1800">
                <a:solidFill>
                  <a:srgbClr val="CADCFC"/>
                </a:solidFill>
                <a:latin typeface="Calibri"/>
                <a:ea typeface="Calibri"/>
                <a:cs typeface="Calibri"/>
                <a:sym typeface="Calibri"/>
              </a:rPr>
              <a:t>Roderick J Taylor</a:t>
            </a:r>
            <a:endParaRPr i="1" sz="1800">
              <a:solidFill>
                <a:srgbClr val="CADCFC"/>
              </a:solidFill>
              <a:latin typeface="Calibri"/>
              <a:ea typeface="Calibri"/>
              <a:cs typeface="Calibri"/>
              <a:sym typeface="Calibri"/>
            </a:endParaRPr>
          </a:p>
        </p:txBody>
      </p:sp>
      <p:sp>
        <p:nvSpPr>
          <p:cNvPr id="20" name="Google Shape;20;p3"/>
          <p:cNvSpPr/>
          <p:nvPr/>
        </p:nvSpPr>
        <p:spPr>
          <a:xfrm>
            <a:off x="822960" y="5852160"/>
            <a:ext cx="13716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22960" y="598932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600"/>
              <a:buFont typeface="Calibri"/>
              <a:buNone/>
            </a:pPr>
            <a:r>
              <a:rPr b="0" i="0" lang="en-US" sz="1600" u="none" cap="none" strike="noStrike">
                <a:solidFill>
                  <a:srgbClr val="CADCFC"/>
                </a:solidFill>
                <a:latin typeface="Calibri"/>
                <a:ea typeface="Calibri"/>
                <a:cs typeface="Calibri"/>
                <a:sym typeface="Calibri"/>
              </a:rPr>
              <a:t>ITAI Machine Learning · Final Project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 name="Shape 26"/>
        <p:cNvGrpSpPr/>
        <p:nvPr/>
      </p:nvGrpSpPr>
      <p:grpSpPr>
        <a:xfrm>
          <a:off x="0" y="0"/>
          <a:ext cx="0" cy="0"/>
          <a:chOff x="0" y="0"/>
          <a:chExt cx="0" cy="0"/>
        </a:xfrm>
      </p:grpSpPr>
      <p:sp>
        <p:nvSpPr>
          <p:cNvPr id="27" name="Google Shape;27;p4"/>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29" name="Google Shape;29;p4"/>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2 / 12</a:t>
            </a:r>
            <a:endParaRPr b="0" i="0" sz="1000" u="none" cap="none" strike="noStrike">
              <a:solidFill>
                <a:schemeClr val="dk1"/>
              </a:solidFill>
              <a:latin typeface="Calibri"/>
              <a:ea typeface="Calibri"/>
              <a:cs typeface="Calibri"/>
              <a:sym typeface="Calibri"/>
            </a:endParaRPr>
          </a:p>
        </p:txBody>
      </p:sp>
      <p:pic>
        <p:nvPicPr>
          <p:cNvPr descr="preencoded.png" id="30" name="Google Shape;30;p4"/>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31" name="Google Shape;31;p4"/>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What we'll cover</a:t>
            </a:r>
            <a:endParaRPr b="0" i="0" sz="3000" u="none" cap="none" strike="noStrike">
              <a:solidFill>
                <a:schemeClr val="dk1"/>
              </a:solidFill>
              <a:latin typeface="Calibri"/>
              <a:ea typeface="Calibri"/>
              <a:cs typeface="Calibri"/>
              <a:sym typeface="Calibri"/>
            </a:endParaRPr>
          </a:p>
        </p:txBody>
      </p:sp>
      <p:sp>
        <p:nvSpPr>
          <p:cNvPr id="32" name="Google Shape;32;p4"/>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640080" y="1472184"/>
            <a:ext cx="502920" cy="50292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640080" y="147218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35" name="Google Shape;35;p4"/>
          <p:cNvSpPr/>
          <p:nvPr/>
        </p:nvSpPr>
        <p:spPr>
          <a:xfrm>
            <a:off x="1371600" y="141732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Vocabulary</a:t>
            </a:r>
            <a:endParaRPr b="0" i="0" sz="1800" u="none" cap="none" strike="noStrike">
              <a:solidFill>
                <a:schemeClr val="dk1"/>
              </a:solidFill>
              <a:latin typeface="Calibri"/>
              <a:ea typeface="Calibri"/>
              <a:cs typeface="Calibri"/>
              <a:sym typeface="Calibri"/>
            </a:endParaRPr>
          </a:p>
        </p:txBody>
      </p:sp>
      <p:sp>
        <p:nvSpPr>
          <p:cNvPr id="36" name="Google Shape;36;p4"/>
          <p:cNvSpPr/>
          <p:nvPr/>
        </p:nvSpPr>
        <p:spPr>
          <a:xfrm>
            <a:off x="1371600" y="1737360"/>
            <a:ext cx="10515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Three quick slides so we share a language</a:t>
            </a:r>
            <a:endParaRPr b="0" i="0" sz="1300" u="none" cap="none" strike="noStrike">
              <a:solidFill>
                <a:schemeClr val="dk1"/>
              </a:solidFill>
              <a:latin typeface="Calibri"/>
              <a:ea typeface="Calibri"/>
              <a:cs typeface="Calibri"/>
              <a:sym typeface="Calibri"/>
            </a:endParaRPr>
          </a:p>
        </p:txBody>
      </p:sp>
      <p:sp>
        <p:nvSpPr>
          <p:cNvPr id="37" name="Google Shape;37;p4"/>
          <p:cNvSpPr/>
          <p:nvPr/>
        </p:nvSpPr>
        <p:spPr>
          <a:xfrm>
            <a:off x="640080" y="2157984"/>
            <a:ext cx="502920" cy="50292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640080" y="215798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39" name="Google Shape;39;p4"/>
          <p:cNvSpPr/>
          <p:nvPr/>
        </p:nvSpPr>
        <p:spPr>
          <a:xfrm>
            <a:off x="1371600" y="210312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The problem</a:t>
            </a:r>
            <a:endParaRPr b="0" i="0" sz="1800" u="none" cap="none" strike="noStrike">
              <a:solidFill>
                <a:schemeClr val="dk1"/>
              </a:solidFill>
              <a:latin typeface="Calibri"/>
              <a:ea typeface="Calibri"/>
              <a:cs typeface="Calibri"/>
              <a:sym typeface="Calibri"/>
            </a:endParaRPr>
          </a:p>
        </p:txBody>
      </p:sp>
      <p:sp>
        <p:nvSpPr>
          <p:cNvPr id="40" name="Google Shape;40;p4"/>
          <p:cNvSpPr/>
          <p:nvPr/>
        </p:nvSpPr>
        <p:spPr>
          <a:xfrm>
            <a:off x="1371600" y="2423160"/>
            <a:ext cx="10515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What we're predicting and from what data</a:t>
            </a:r>
            <a:endParaRPr b="0" i="0" sz="1300" u="none" cap="none" strike="noStrike">
              <a:solidFill>
                <a:schemeClr val="dk1"/>
              </a:solidFill>
              <a:latin typeface="Calibri"/>
              <a:ea typeface="Calibri"/>
              <a:cs typeface="Calibri"/>
              <a:sym typeface="Calibri"/>
            </a:endParaRPr>
          </a:p>
        </p:txBody>
      </p:sp>
      <p:sp>
        <p:nvSpPr>
          <p:cNvPr id="41" name="Google Shape;41;p4"/>
          <p:cNvSpPr/>
          <p:nvPr/>
        </p:nvSpPr>
        <p:spPr>
          <a:xfrm>
            <a:off x="640080" y="2843784"/>
            <a:ext cx="502920" cy="50292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640080" y="284378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43" name="Google Shape;43;p4"/>
          <p:cNvSpPr/>
          <p:nvPr/>
        </p:nvSpPr>
        <p:spPr>
          <a:xfrm>
            <a:off x="1371600" y="278892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Splitting data</a:t>
            </a:r>
            <a:endParaRPr b="0" i="0" sz="1800" u="none" cap="none" strike="noStrike">
              <a:solidFill>
                <a:schemeClr val="dk1"/>
              </a:solidFill>
              <a:latin typeface="Calibri"/>
              <a:ea typeface="Calibri"/>
              <a:cs typeface="Calibri"/>
              <a:sym typeface="Calibri"/>
            </a:endParaRPr>
          </a:p>
        </p:txBody>
      </p:sp>
      <p:sp>
        <p:nvSpPr>
          <p:cNvPr id="44" name="Google Shape;44;p4"/>
          <p:cNvSpPr/>
          <p:nvPr/>
        </p:nvSpPr>
        <p:spPr>
          <a:xfrm>
            <a:off x="1371600" y="3108960"/>
            <a:ext cx="10515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Why we hold some of it back, and how</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640080" y="3529584"/>
            <a:ext cx="502920" cy="50292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640080" y="352958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47" name="Google Shape;47;p4"/>
          <p:cNvSpPr/>
          <p:nvPr/>
        </p:nvSpPr>
        <p:spPr>
          <a:xfrm>
            <a:off x="1371600" y="347472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Cleaning</a:t>
            </a:r>
            <a:endParaRPr b="0" i="0" sz="1800" u="none" cap="none" strike="noStrike">
              <a:solidFill>
                <a:schemeClr val="dk1"/>
              </a:solidFill>
              <a:latin typeface="Calibri"/>
              <a:ea typeface="Calibri"/>
              <a:cs typeface="Calibri"/>
              <a:sym typeface="Calibri"/>
            </a:endParaRPr>
          </a:p>
        </p:txBody>
      </p:sp>
      <p:sp>
        <p:nvSpPr>
          <p:cNvPr id="48" name="Google Shape;48;p4"/>
          <p:cNvSpPr/>
          <p:nvPr/>
        </p:nvSpPr>
        <p:spPr>
          <a:xfrm>
            <a:off x="1371600" y="3794760"/>
            <a:ext cx="10515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Logs, caps, imputation, and engineered ratios</a:t>
            </a:r>
            <a:endParaRPr b="0" i="0" sz="1300" u="none" cap="none" strike="noStrike">
              <a:solidFill>
                <a:schemeClr val="dk1"/>
              </a:solidFill>
              <a:latin typeface="Calibri"/>
              <a:ea typeface="Calibri"/>
              <a:cs typeface="Calibri"/>
              <a:sym typeface="Calibri"/>
            </a:endParaRPr>
          </a:p>
        </p:txBody>
      </p:sp>
      <p:sp>
        <p:nvSpPr>
          <p:cNvPr id="49" name="Google Shape;49;p4"/>
          <p:cNvSpPr/>
          <p:nvPr/>
        </p:nvSpPr>
        <p:spPr>
          <a:xfrm>
            <a:off x="640080" y="4215384"/>
            <a:ext cx="502920" cy="50292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640080" y="421538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p:txBody>
      </p:sp>
      <p:sp>
        <p:nvSpPr>
          <p:cNvPr id="51" name="Google Shape;51;p4"/>
          <p:cNvSpPr/>
          <p:nvPr/>
        </p:nvSpPr>
        <p:spPr>
          <a:xfrm>
            <a:off x="1371600" y="416052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Models</a:t>
            </a:r>
            <a:endParaRPr b="0" i="0" sz="1800" u="none" cap="none" strike="noStrike">
              <a:solidFill>
                <a:schemeClr val="dk1"/>
              </a:solidFill>
              <a:latin typeface="Calibri"/>
              <a:ea typeface="Calibri"/>
              <a:cs typeface="Calibri"/>
              <a:sym typeface="Calibri"/>
            </a:endParaRPr>
          </a:p>
        </p:txBody>
      </p:sp>
      <p:sp>
        <p:nvSpPr>
          <p:cNvPr id="52" name="Google Shape;52;p4"/>
          <p:cNvSpPr/>
          <p:nvPr/>
        </p:nvSpPr>
        <p:spPr>
          <a:xfrm>
            <a:off x="1371600" y="4480560"/>
            <a:ext cx="10515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Six classifiers, what each one is, who won</a:t>
            </a:r>
            <a:endParaRPr b="0" i="0" sz="1300" u="none" cap="none" strike="noStrike">
              <a:solidFill>
                <a:schemeClr val="dk1"/>
              </a:solidFill>
              <a:latin typeface="Calibri"/>
              <a:ea typeface="Calibri"/>
              <a:cs typeface="Calibri"/>
              <a:sym typeface="Calibri"/>
            </a:endParaRPr>
          </a:p>
        </p:txBody>
      </p:sp>
      <p:sp>
        <p:nvSpPr>
          <p:cNvPr id="53" name="Google Shape;53;p4"/>
          <p:cNvSpPr/>
          <p:nvPr/>
        </p:nvSpPr>
        <p:spPr>
          <a:xfrm>
            <a:off x="640080" y="4901184"/>
            <a:ext cx="502920" cy="50292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640080" y="490118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6</a:t>
            </a:r>
            <a:endParaRPr b="0" i="0" sz="1800" u="none" cap="none" strike="noStrike">
              <a:solidFill>
                <a:schemeClr val="dk1"/>
              </a:solidFill>
              <a:latin typeface="Calibri"/>
              <a:ea typeface="Calibri"/>
              <a:cs typeface="Calibri"/>
              <a:sym typeface="Calibri"/>
            </a:endParaRPr>
          </a:p>
        </p:txBody>
      </p:sp>
      <p:sp>
        <p:nvSpPr>
          <p:cNvPr id="55" name="Google Shape;55;p4"/>
          <p:cNvSpPr/>
          <p:nvPr/>
        </p:nvSpPr>
        <p:spPr>
          <a:xfrm>
            <a:off x="1371600" y="484632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Ensembles</a:t>
            </a:r>
            <a:endParaRPr b="0" i="0" sz="1800" u="none" cap="none" strike="noStrike">
              <a:solidFill>
                <a:schemeClr val="dk1"/>
              </a:solidFill>
              <a:latin typeface="Calibri"/>
              <a:ea typeface="Calibri"/>
              <a:cs typeface="Calibri"/>
              <a:sym typeface="Calibri"/>
            </a:endParaRPr>
          </a:p>
        </p:txBody>
      </p:sp>
      <p:sp>
        <p:nvSpPr>
          <p:cNvPr id="56" name="Google Shape;56;p4"/>
          <p:cNvSpPr/>
          <p:nvPr/>
        </p:nvSpPr>
        <p:spPr>
          <a:xfrm>
            <a:off x="1371600" y="5166360"/>
            <a:ext cx="10515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Two ways to combine models, and why one beat the other</a:t>
            </a:r>
            <a:endParaRPr b="0" i="0" sz="1300" u="none" cap="none" strike="noStrike">
              <a:solidFill>
                <a:schemeClr val="dk1"/>
              </a:solidFill>
              <a:latin typeface="Calibri"/>
              <a:ea typeface="Calibri"/>
              <a:cs typeface="Calibri"/>
              <a:sym typeface="Calibri"/>
            </a:endParaRPr>
          </a:p>
        </p:txBody>
      </p:sp>
      <p:sp>
        <p:nvSpPr>
          <p:cNvPr id="57" name="Google Shape;57;p4"/>
          <p:cNvSpPr/>
          <p:nvPr/>
        </p:nvSpPr>
        <p:spPr>
          <a:xfrm>
            <a:off x="640080" y="5586984"/>
            <a:ext cx="502920" cy="50292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640080" y="558698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7</a:t>
            </a:r>
            <a:endParaRPr b="0" i="0" sz="1800" u="none" cap="none" strike="noStrike">
              <a:solidFill>
                <a:schemeClr val="dk1"/>
              </a:solidFill>
              <a:latin typeface="Calibri"/>
              <a:ea typeface="Calibri"/>
              <a:cs typeface="Calibri"/>
              <a:sym typeface="Calibri"/>
            </a:endParaRPr>
          </a:p>
        </p:txBody>
      </p:sp>
      <p:sp>
        <p:nvSpPr>
          <p:cNvPr id="59" name="Google Shape;59;p4"/>
          <p:cNvSpPr/>
          <p:nvPr/>
        </p:nvSpPr>
        <p:spPr>
          <a:xfrm>
            <a:off x="1371600" y="553212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Takeaways</a:t>
            </a:r>
            <a:endParaRPr b="0" i="0" sz="1800" u="none" cap="none" strike="noStrike">
              <a:solidFill>
                <a:schemeClr val="dk1"/>
              </a:solidFill>
              <a:latin typeface="Calibri"/>
              <a:ea typeface="Calibri"/>
              <a:cs typeface="Calibri"/>
              <a:sym typeface="Calibri"/>
            </a:endParaRPr>
          </a:p>
        </p:txBody>
      </p:sp>
      <p:sp>
        <p:nvSpPr>
          <p:cNvPr id="60" name="Google Shape;60;p4"/>
          <p:cNvSpPr/>
          <p:nvPr/>
        </p:nvSpPr>
        <p:spPr>
          <a:xfrm>
            <a:off x="1371600" y="5852160"/>
            <a:ext cx="10515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What I would do differently next time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5" name="Shape 65"/>
        <p:cNvGrpSpPr/>
        <p:nvPr/>
      </p:nvGrpSpPr>
      <p:grpSpPr>
        <a:xfrm>
          <a:off x="0" y="0"/>
          <a:ext cx="0" cy="0"/>
          <a:chOff x="0" y="0"/>
          <a:chExt cx="0" cy="0"/>
        </a:xfrm>
      </p:grpSpPr>
      <p:sp>
        <p:nvSpPr>
          <p:cNvPr id="66" name="Google Shape;66;p5"/>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68" name="Google Shape;68;p5"/>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3 / 12</a:t>
            </a:r>
            <a:endParaRPr b="0" i="0" sz="1000" u="none" cap="none" strike="noStrike">
              <a:solidFill>
                <a:schemeClr val="dk1"/>
              </a:solidFill>
              <a:latin typeface="Calibri"/>
              <a:ea typeface="Calibri"/>
              <a:cs typeface="Calibri"/>
              <a:sym typeface="Calibri"/>
            </a:endParaRPr>
          </a:p>
        </p:txBody>
      </p:sp>
      <p:pic>
        <p:nvPicPr>
          <p:cNvPr descr="preencoded.png" id="69" name="Google Shape;69;p5"/>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70" name="Google Shape;70;p5"/>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Vocabulary 1 of 3 - The basics</a:t>
            </a:r>
            <a:endParaRPr b="0" i="0" sz="3000" u="none" cap="none" strike="noStrike">
              <a:solidFill>
                <a:schemeClr val="dk1"/>
              </a:solidFill>
              <a:latin typeface="Calibri"/>
              <a:ea typeface="Calibri"/>
              <a:cs typeface="Calibri"/>
              <a:sym typeface="Calibri"/>
            </a:endParaRPr>
          </a:p>
        </p:txBody>
      </p:sp>
      <p:sp>
        <p:nvSpPr>
          <p:cNvPr id="71" name="Google Shape;71;p5"/>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548640" y="118872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If you've never trained a model before, start here.</a:t>
            </a:r>
            <a:endParaRPr b="0" i="0" sz="1300" u="none" cap="none" strike="noStrike">
              <a:solidFill>
                <a:schemeClr val="dk1"/>
              </a:solidFill>
              <a:latin typeface="Calibri"/>
              <a:ea typeface="Calibri"/>
              <a:cs typeface="Calibri"/>
              <a:sym typeface="Calibri"/>
            </a:endParaRPr>
          </a:p>
        </p:txBody>
      </p:sp>
      <p:sp>
        <p:nvSpPr>
          <p:cNvPr id="73" name="Google Shape;73;p5"/>
          <p:cNvSpPr/>
          <p:nvPr/>
        </p:nvSpPr>
        <p:spPr>
          <a:xfrm>
            <a:off x="54864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4864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82296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Feature</a:t>
            </a:r>
            <a:endParaRPr b="0" i="0" sz="1800" u="none" cap="none" strike="noStrike">
              <a:solidFill>
                <a:schemeClr val="dk1"/>
              </a:solidFill>
              <a:latin typeface="Calibri"/>
              <a:ea typeface="Calibri"/>
              <a:cs typeface="Calibri"/>
              <a:sym typeface="Calibri"/>
            </a:endParaRPr>
          </a:p>
        </p:txBody>
      </p:sp>
      <p:sp>
        <p:nvSpPr>
          <p:cNvPr id="76" name="Google Shape;76;p5"/>
          <p:cNvSpPr/>
          <p:nvPr/>
        </p:nvSpPr>
        <p:spPr>
          <a:xfrm>
            <a:off x="82296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An input column the model sees - income, age, loan amount, etc.</a:t>
            </a:r>
            <a:endParaRPr b="0" i="0" sz="1300" u="none" cap="none" strike="noStrike">
              <a:solidFill>
                <a:schemeClr val="dk1"/>
              </a:solidFill>
              <a:latin typeface="Calibri"/>
              <a:ea typeface="Calibri"/>
              <a:cs typeface="Calibri"/>
              <a:sym typeface="Calibri"/>
            </a:endParaRPr>
          </a:p>
        </p:txBody>
      </p:sp>
      <p:sp>
        <p:nvSpPr>
          <p:cNvPr id="77" name="Google Shape;77;p5"/>
          <p:cNvSpPr/>
          <p:nvPr/>
        </p:nvSpPr>
        <p:spPr>
          <a:xfrm>
            <a:off x="82296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82296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the questions on a loan application form</a:t>
            </a:r>
            <a:endParaRPr b="0" i="0" sz="1200" u="none" cap="none" strike="noStrike">
              <a:solidFill>
                <a:schemeClr val="dk1"/>
              </a:solidFill>
              <a:latin typeface="Calibri"/>
              <a:ea typeface="Calibri"/>
              <a:cs typeface="Calibri"/>
              <a:sym typeface="Calibri"/>
            </a:endParaRPr>
          </a:p>
        </p:txBody>
      </p:sp>
      <p:sp>
        <p:nvSpPr>
          <p:cNvPr id="79" name="Google Shape;79;p5"/>
          <p:cNvSpPr/>
          <p:nvPr/>
        </p:nvSpPr>
        <p:spPr>
          <a:xfrm>
            <a:off x="434340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434340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461772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Target</a:t>
            </a:r>
            <a:endParaRPr b="0" i="0" sz="1800" u="none" cap="none" strike="noStrike">
              <a:solidFill>
                <a:schemeClr val="dk1"/>
              </a:solidFill>
              <a:latin typeface="Calibri"/>
              <a:ea typeface="Calibri"/>
              <a:cs typeface="Calibri"/>
              <a:sym typeface="Calibri"/>
            </a:endParaRPr>
          </a:p>
        </p:txBody>
      </p:sp>
      <p:sp>
        <p:nvSpPr>
          <p:cNvPr id="82" name="Google Shape;82;p5"/>
          <p:cNvSpPr/>
          <p:nvPr/>
        </p:nvSpPr>
        <p:spPr>
          <a:xfrm>
            <a:off x="461772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The column we're trying to predict. Here it's loan_status: did this loan default?</a:t>
            </a:r>
            <a:endParaRPr b="0" i="0" sz="1300" u="none" cap="none" strike="noStrike">
              <a:solidFill>
                <a:schemeClr val="dk1"/>
              </a:solidFill>
              <a:latin typeface="Calibri"/>
              <a:ea typeface="Calibri"/>
              <a:cs typeface="Calibri"/>
              <a:sym typeface="Calibri"/>
            </a:endParaRPr>
          </a:p>
        </p:txBody>
      </p:sp>
      <p:sp>
        <p:nvSpPr>
          <p:cNvPr id="83" name="Google Shape;83;p5"/>
          <p:cNvSpPr/>
          <p:nvPr/>
        </p:nvSpPr>
        <p:spPr>
          <a:xfrm>
            <a:off x="461772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461772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the answer key the model is being graded against</a:t>
            </a:r>
            <a:endParaRPr b="0" i="0" sz="1200" u="none" cap="none" strike="noStrike">
              <a:solidFill>
                <a:schemeClr val="dk1"/>
              </a:solidFill>
              <a:latin typeface="Calibri"/>
              <a:ea typeface="Calibri"/>
              <a:cs typeface="Calibri"/>
              <a:sym typeface="Calibri"/>
            </a:endParaRPr>
          </a:p>
        </p:txBody>
      </p:sp>
      <p:sp>
        <p:nvSpPr>
          <p:cNvPr id="85" name="Google Shape;85;p5"/>
          <p:cNvSpPr/>
          <p:nvPr/>
        </p:nvSpPr>
        <p:spPr>
          <a:xfrm>
            <a:off x="813816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813816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841248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Binary classification</a:t>
            </a:r>
            <a:endParaRPr b="0" i="0" sz="1800" u="none" cap="none" strike="noStrike">
              <a:solidFill>
                <a:schemeClr val="dk1"/>
              </a:solidFill>
              <a:latin typeface="Calibri"/>
              <a:ea typeface="Calibri"/>
              <a:cs typeface="Calibri"/>
              <a:sym typeface="Calibri"/>
            </a:endParaRPr>
          </a:p>
        </p:txBody>
      </p:sp>
      <p:sp>
        <p:nvSpPr>
          <p:cNvPr id="88" name="Google Shape;88;p5"/>
          <p:cNvSpPr/>
          <p:nvPr/>
        </p:nvSpPr>
        <p:spPr>
          <a:xfrm>
            <a:off x="841248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Predicting one of two labels - in our case, default (1) or no default (0).</a:t>
            </a:r>
            <a:endParaRPr b="0" i="0" sz="1300" u="none" cap="none" strike="noStrike">
              <a:solidFill>
                <a:schemeClr val="dk1"/>
              </a:solidFill>
              <a:latin typeface="Calibri"/>
              <a:ea typeface="Calibri"/>
              <a:cs typeface="Calibri"/>
              <a:sym typeface="Calibri"/>
            </a:endParaRPr>
          </a:p>
        </p:txBody>
      </p:sp>
      <p:sp>
        <p:nvSpPr>
          <p:cNvPr id="89" name="Google Shape;89;p5"/>
          <p:cNvSpPr/>
          <p:nvPr/>
        </p:nvSpPr>
        <p:spPr>
          <a:xfrm>
            <a:off x="841248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841248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answering a yes-or-no question</a:t>
            </a:r>
            <a:endParaRPr b="0" i="0" sz="1200" u="none" cap="none" strike="noStrike">
              <a:solidFill>
                <a:schemeClr val="dk1"/>
              </a:solidFill>
              <a:latin typeface="Calibri"/>
              <a:ea typeface="Calibri"/>
              <a:cs typeface="Calibri"/>
              <a:sym typeface="Calibri"/>
            </a:endParaRPr>
          </a:p>
        </p:txBody>
      </p:sp>
      <p:sp>
        <p:nvSpPr>
          <p:cNvPr id="91" name="Google Shape;91;p5"/>
          <p:cNvSpPr/>
          <p:nvPr/>
        </p:nvSpPr>
        <p:spPr>
          <a:xfrm>
            <a:off x="54864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54864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82296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Class imbalance</a:t>
            </a:r>
            <a:endParaRPr b="0" i="0" sz="1800" u="none" cap="none" strike="noStrike">
              <a:solidFill>
                <a:schemeClr val="dk1"/>
              </a:solidFill>
              <a:latin typeface="Calibri"/>
              <a:ea typeface="Calibri"/>
              <a:cs typeface="Calibri"/>
              <a:sym typeface="Calibri"/>
            </a:endParaRPr>
          </a:p>
        </p:txBody>
      </p:sp>
      <p:sp>
        <p:nvSpPr>
          <p:cNvPr id="94" name="Google Shape;94;p5"/>
          <p:cNvSpPr/>
          <p:nvPr/>
        </p:nvSpPr>
        <p:spPr>
          <a:xfrm>
            <a:off x="82296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When one label is much more common than the other. Our data is 78% non-default and 22% default.</a:t>
            </a:r>
            <a:endParaRPr b="0" i="0" sz="1300" u="none" cap="none" strike="noStrike">
              <a:solidFill>
                <a:schemeClr val="dk1"/>
              </a:solidFill>
              <a:latin typeface="Calibri"/>
              <a:ea typeface="Calibri"/>
              <a:cs typeface="Calibri"/>
              <a:sym typeface="Calibri"/>
            </a:endParaRPr>
          </a:p>
        </p:txBody>
      </p:sp>
      <p:sp>
        <p:nvSpPr>
          <p:cNvPr id="95" name="Google Shape;95;p5"/>
          <p:cNvSpPr/>
          <p:nvPr/>
        </p:nvSpPr>
        <p:spPr>
          <a:xfrm>
            <a:off x="82296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82296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a class where 78 students passed and 22 failed</a:t>
            </a:r>
            <a:endParaRPr b="0" i="0" sz="1200" u="none" cap="none" strike="noStrike">
              <a:solidFill>
                <a:schemeClr val="dk1"/>
              </a:solidFill>
              <a:latin typeface="Calibri"/>
              <a:ea typeface="Calibri"/>
              <a:cs typeface="Calibri"/>
              <a:sym typeface="Calibri"/>
            </a:endParaRPr>
          </a:p>
        </p:txBody>
      </p:sp>
      <p:sp>
        <p:nvSpPr>
          <p:cNvPr id="97" name="Google Shape;97;p5"/>
          <p:cNvSpPr/>
          <p:nvPr/>
        </p:nvSpPr>
        <p:spPr>
          <a:xfrm>
            <a:off x="434340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434340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461772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Train / test split</a:t>
            </a:r>
            <a:endParaRPr b="0" i="0" sz="1800" u="none" cap="none" strike="noStrike">
              <a:solidFill>
                <a:schemeClr val="dk1"/>
              </a:solidFill>
              <a:latin typeface="Calibri"/>
              <a:ea typeface="Calibri"/>
              <a:cs typeface="Calibri"/>
              <a:sym typeface="Calibri"/>
            </a:endParaRPr>
          </a:p>
        </p:txBody>
      </p:sp>
      <p:sp>
        <p:nvSpPr>
          <p:cNvPr id="100" name="Google Shape;100;p5"/>
          <p:cNvSpPr/>
          <p:nvPr/>
        </p:nvSpPr>
        <p:spPr>
          <a:xfrm>
            <a:off x="461772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Show the model some data to learn from, then quiz it on data it hasn't seen.</a:t>
            </a:r>
            <a:endParaRPr b="0" i="0" sz="1300" u="none" cap="none" strike="noStrike">
              <a:solidFill>
                <a:schemeClr val="dk1"/>
              </a:solidFill>
              <a:latin typeface="Calibri"/>
              <a:ea typeface="Calibri"/>
              <a:cs typeface="Calibri"/>
              <a:sym typeface="Calibri"/>
            </a:endParaRPr>
          </a:p>
        </p:txBody>
      </p:sp>
      <p:sp>
        <p:nvSpPr>
          <p:cNvPr id="101" name="Google Shape;101;p5"/>
          <p:cNvSpPr/>
          <p:nvPr/>
        </p:nvSpPr>
        <p:spPr>
          <a:xfrm>
            <a:off x="461772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461772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studying with practice problems, then taking a real exam</a:t>
            </a:r>
            <a:endParaRPr b="0" i="0" sz="1200" u="none" cap="none" strike="noStrike">
              <a:solidFill>
                <a:schemeClr val="dk1"/>
              </a:solidFill>
              <a:latin typeface="Calibri"/>
              <a:ea typeface="Calibri"/>
              <a:cs typeface="Calibri"/>
              <a:sym typeface="Calibri"/>
            </a:endParaRPr>
          </a:p>
        </p:txBody>
      </p:sp>
      <p:sp>
        <p:nvSpPr>
          <p:cNvPr id="103" name="Google Shape;103;p5"/>
          <p:cNvSpPr/>
          <p:nvPr/>
        </p:nvSpPr>
        <p:spPr>
          <a:xfrm>
            <a:off x="813816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813816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841248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Model</a:t>
            </a:r>
            <a:endParaRPr b="0" i="0" sz="1800" u="none" cap="none" strike="noStrike">
              <a:solidFill>
                <a:schemeClr val="dk1"/>
              </a:solidFill>
              <a:latin typeface="Calibri"/>
              <a:ea typeface="Calibri"/>
              <a:cs typeface="Calibri"/>
              <a:sym typeface="Calibri"/>
            </a:endParaRPr>
          </a:p>
        </p:txBody>
      </p:sp>
      <p:sp>
        <p:nvSpPr>
          <p:cNvPr id="106" name="Google Shape;106;p5"/>
          <p:cNvSpPr/>
          <p:nvPr/>
        </p:nvSpPr>
        <p:spPr>
          <a:xfrm>
            <a:off x="841248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A function that learns patterns from features and predicts the target.</a:t>
            </a:r>
            <a:endParaRPr b="0" i="0" sz="1300" u="none" cap="none" strike="noStrike">
              <a:solidFill>
                <a:schemeClr val="dk1"/>
              </a:solidFill>
              <a:latin typeface="Calibri"/>
              <a:ea typeface="Calibri"/>
              <a:cs typeface="Calibri"/>
              <a:sym typeface="Calibri"/>
            </a:endParaRPr>
          </a:p>
        </p:txBody>
      </p:sp>
      <p:sp>
        <p:nvSpPr>
          <p:cNvPr id="107" name="Google Shape;107;p5"/>
          <p:cNvSpPr/>
          <p:nvPr/>
        </p:nvSpPr>
        <p:spPr>
          <a:xfrm>
            <a:off x="841248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841248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a student who studies the practice problems and tries to ace the exam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3" name="Shape 113"/>
        <p:cNvGrpSpPr/>
        <p:nvPr/>
      </p:nvGrpSpPr>
      <p:grpSpPr>
        <a:xfrm>
          <a:off x="0" y="0"/>
          <a:ext cx="0" cy="0"/>
          <a:chOff x="0" y="0"/>
          <a:chExt cx="0" cy="0"/>
        </a:xfrm>
      </p:grpSpPr>
      <p:sp>
        <p:nvSpPr>
          <p:cNvPr id="114" name="Google Shape;114;p6"/>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116" name="Google Shape;116;p6"/>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4 / 12</a:t>
            </a:r>
            <a:endParaRPr b="0" i="0" sz="1000" u="none" cap="none" strike="noStrike">
              <a:solidFill>
                <a:schemeClr val="dk1"/>
              </a:solidFill>
              <a:latin typeface="Calibri"/>
              <a:ea typeface="Calibri"/>
              <a:cs typeface="Calibri"/>
              <a:sym typeface="Calibri"/>
            </a:endParaRPr>
          </a:p>
        </p:txBody>
      </p:sp>
      <p:pic>
        <p:nvPicPr>
          <p:cNvPr descr="preencoded.png" id="117" name="Google Shape;117;p6"/>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118" name="Google Shape;118;p6"/>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Vocabulary 2 of 3 - How we grade the model</a:t>
            </a:r>
            <a:endParaRPr b="0" i="0" sz="3000" u="none" cap="none" strike="noStrike">
              <a:solidFill>
                <a:schemeClr val="dk1"/>
              </a:solidFill>
              <a:latin typeface="Calibri"/>
              <a:ea typeface="Calibri"/>
              <a:cs typeface="Calibri"/>
              <a:sym typeface="Calibri"/>
            </a:endParaRPr>
          </a:p>
        </p:txBody>
      </p:sp>
      <p:sp>
        <p:nvSpPr>
          <p:cNvPr id="119" name="Google Shape;119;p6"/>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548640" y="118872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Accuracy alone lies on imbalanced data. These four metrics tell the real story.</a:t>
            </a:r>
            <a:endParaRPr b="0" i="0" sz="1300" u="none" cap="none" strike="noStrike">
              <a:solidFill>
                <a:schemeClr val="dk1"/>
              </a:solidFill>
              <a:latin typeface="Calibri"/>
              <a:ea typeface="Calibri"/>
              <a:cs typeface="Calibri"/>
              <a:sym typeface="Calibri"/>
            </a:endParaRPr>
          </a:p>
        </p:txBody>
      </p:sp>
      <p:sp>
        <p:nvSpPr>
          <p:cNvPr id="121" name="Google Shape;121;p6"/>
          <p:cNvSpPr/>
          <p:nvPr/>
        </p:nvSpPr>
        <p:spPr>
          <a:xfrm>
            <a:off x="54864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54864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82296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Accuracy</a:t>
            </a:r>
            <a:endParaRPr b="0" i="0" sz="1800" u="none" cap="none" strike="noStrike">
              <a:solidFill>
                <a:schemeClr val="dk1"/>
              </a:solidFill>
              <a:latin typeface="Calibri"/>
              <a:ea typeface="Calibri"/>
              <a:cs typeface="Calibri"/>
              <a:sym typeface="Calibri"/>
            </a:endParaRPr>
          </a:p>
        </p:txBody>
      </p:sp>
      <p:sp>
        <p:nvSpPr>
          <p:cNvPr id="124" name="Google Shape;124;p6"/>
          <p:cNvSpPr/>
          <p:nvPr/>
        </p:nvSpPr>
        <p:spPr>
          <a:xfrm>
            <a:off x="82296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Out of all predictions, how many did the model get right?</a:t>
            </a:r>
            <a:endParaRPr b="0" i="0" sz="1300" u="none" cap="none" strike="noStrike">
              <a:solidFill>
                <a:schemeClr val="dk1"/>
              </a:solidFill>
              <a:latin typeface="Calibri"/>
              <a:ea typeface="Calibri"/>
              <a:cs typeface="Calibri"/>
              <a:sym typeface="Calibri"/>
            </a:endParaRPr>
          </a:p>
        </p:txBody>
      </p:sp>
      <p:sp>
        <p:nvSpPr>
          <p:cNvPr id="125" name="Google Shape;125;p6"/>
          <p:cNvSpPr/>
          <p:nvPr/>
        </p:nvSpPr>
        <p:spPr>
          <a:xfrm>
            <a:off x="82296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82296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a test grade on every question, easy and hard alike</a:t>
            </a:r>
            <a:endParaRPr b="0" i="0" sz="1200" u="none" cap="none" strike="noStrike">
              <a:solidFill>
                <a:schemeClr val="dk1"/>
              </a:solidFill>
              <a:latin typeface="Calibri"/>
              <a:ea typeface="Calibri"/>
              <a:cs typeface="Calibri"/>
              <a:sym typeface="Calibri"/>
            </a:endParaRPr>
          </a:p>
        </p:txBody>
      </p:sp>
      <p:sp>
        <p:nvSpPr>
          <p:cNvPr id="127" name="Google Shape;127;p6"/>
          <p:cNvSpPr/>
          <p:nvPr/>
        </p:nvSpPr>
        <p:spPr>
          <a:xfrm>
            <a:off x="434340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434340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461772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Precision</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461772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When the model says "this loan will default", how often is it actually right?</a:t>
            </a:r>
            <a:endParaRPr b="0" i="0" sz="1300" u="none" cap="none" strike="noStrike">
              <a:solidFill>
                <a:schemeClr val="dk1"/>
              </a:solidFill>
              <a:latin typeface="Calibri"/>
              <a:ea typeface="Calibri"/>
              <a:cs typeface="Calibri"/>
              <a:sym typeface="Calibri"/>
            </a:endParaRPr>
          </a:p>
        </p:txBody>
      </p:sp>
      <p:sp>
        <p:nvSpPr>
          <p:cNvPr id="131" name="Google Shape;131;p6"/>
          <p:cNvSpPr/>
          <p:nvPr/>
        </p:nvSpPr>
        <p:spPr>
          <a:xfrm>
            <a:off x="461772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461772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a smoke alarm: precision is how often the alarm means real fire</a:t>
            </a:r>
            <a:endParaRPr b="0" i="0" sz="1200" u="none" cap="none" strike="noStrike">
              <a:solidFill>
                <a:schemeClr val="dk1"/>
              </a:solidFill>
              <a:latin typeface="Calibri"/>
              <a:ea typeface="Calibri"/>
              <a:cs typeface="Calibri"/>
              <a:sym typeface="Calibri"/>
            </a:endParaRPr>
          </a:p>
        </p:txBody>
      </p:sp>
      <p:sp>
        <p:nvSpPr>
          <p:cNvPr id="133" name="Google Shape;133;p6"/>
          <p:cNvSpPr/>
          <p:nvPr/>
        </p:nvSpPr>
        <p:spPr>
          <a:xfrm>
            <a:off x="813816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813816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841248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Recall</a:t>
            </a:r>
            <a:endParaRPr b="0" i="0" sz="1800" u="none" cap="none" strike="noStrike">
              <a:solidFill>
                <a:schemeClr val="dk1"/>
              </a:solidFill>
              <a:latin typeface="Calibri"/>
              <a:ea typeface="Calibri"/>
              <a:cs typeface="Calibri"/>
              <a:sym typeface="Calibri"/>
            </a:endParaRPr>
          </a:p>
        </p:txBody>
      </p:sp>
      <p:sp>
        <p:nvSpPr>
          <p:cNvPr id="136" name="Google Shape;136;p6"/>
          <p:cNvSpPr/>
          <p:nvPr/>
        </p:nvSpPr>
        <p:spPr>
          <a:xfrm>
            <a:off x="841248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Out of all the loans that really did default, how many did the model catch?</a:t>
            </a:r>
            <a:endParaRPr b="0" i="0" sz="1300" u="none" cap="none" strike="noStrike">
              <a:solidFill>
                <a:schemeClr val="dk1"/>
              </a:solidFill>
              <a:latin typeface="Calibri"/>
              <a:ea typeface="Calibri"/>
              <a:cs typeface="Calibri"/>
              <a:sym typeface="Calibri"/>
            </a:endParaRPr>
          </a:p>
        </p:txBody>
      </p:sp>
      <p:sp>
        <p:nvSpPr>
          <p:cNvPr id="137" name="Google Shape;137;p6"/>
          <p:cNvSpPr/>
          <p:nvPr/>
        </p:nvSpPr>
        <p:spPr>
          <a:xfrm>
            <a:off x="841248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841248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the same alarm: recall is how many real fires it actually caught</a:t>
            </a:r>
            <a:endParaRPr b="0" i="0" sz="1200" u="none" cap="none" strike="noStrike">
              <a:solidFill>
                <a:schemeClr val="dk1"/>
              </a:solidFill>
              <a:latin typeface="Calibri"/>
              <a:ea typeface="Calibri"/>
              <a:cs typeface="Calibri"/>
              <a:sym typeface="Calibri"/>
            </a:endParaRPr>
          </a:p>
        </p:txBody>
      </p:sp>
      <p:sp>
        <p:nvSpPr>
          <p:cNvPr id="139" name="Google Shape;139;p6"/>
          <p:cNvSpPr/>
          <p:nvPr/>
        </p:nvSpPr>
        <p:spPr>
          <a:xfrm>
            <a:off x="54864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54864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82296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F1-score</a:t>
            </a:r>
            <a:endParaRPr b="0" i="0" sz="1800" u="none" cap="none" strike="noStrike">
              <a:solidFill>
                <a:schemeClr val="dk1"/>
              </a:solidFill>
              <a:latin typeface="Calibri"/>
              <a:ea typeface="Calibri"/>
              <a:cs typeface="Calibri"/>
              <a:sym typeface="Calibri"/>
            </a:endParaRPr>
          </a:p>
        </p:txBody>
      </p:sp>
      <p:sp>
        <p:nvSpPr>
          <p:cNvPr id="142" name="Google Shape;142;p6"/>
          <p:cNvSpPr/>
          <p:nvPr/>
        </p:nvSpPr>
        <p:spPr>
          <a:xfrm>
            <a:off x="82296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A balanced average of Precision and Recall. Useful when you care about both.</a:t>
            </a:r>
            <a:endParaRPr b="0" i="0" sz="1300" u="none" cap="none" strike="noStrike">
              <a:solidFill>
                <a:schemeClr val="dk1"/>
              </a:solidFill>
              <a:latin typeface="Calibri"/>
              <a:ea typeface="Calibri"/>
              <a:cs typeface="Calibri"/>
              <a:sym typeface="Calibri"/>
            </a:endParaRPr>
          </a:p>
        </p:txBody>
      </p:sp>
      <p:sp>
        <p:nvSpPr>
          <p:cNvPr id="143" name="Google Shape;143;p6"/>
          <p:cNvSpPr/>
          <p:nvPr/>
        </p:nvSpPr>
        <p:spPr>
          <a:xfrm>
            <a:off x="82296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82296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an average grade across two subjects</a:t>
            </a:r>
            <a:endParaRPr b="0" i="0" sz="1200" u="none" cap="none" strike="noStrike">
              <a:solidFill>
                <a:schemeClr val="dk1"/>
              </a:solidFill>
              <a:latin typeface="Calibri"/>
              <a:ea typeface="Calibri"/>
              <a:cs typeface="Calibri"/>
              <a:sym typeface="Calibri"/>
            </a:endParaRPr>
          </a:p>
        </p:txBody>
      </p:sp>
      <p:sp>
        <p:nvSpPr>
          <p:cNvPr id="145" name="Google Shape;145;p6"/>
          <p:cNvSpPr/>
          <p:nvPr/>
        </p:nvSpPr>
        <p:spPr>
          <a:xfrm>
            <a:off x="434340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434340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461772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ROC-AUC</a:t>
            </a:r>
            <a:endParaRPr b="0" i="0" sz="1800" u="none" cap="none" strike="noStrike">
              <a:solidFill>
                <a:schemeClr val="dk1"/>
              </a:solidFill>
              <a:latin typeface="Calibri"/>
              <a:ea typeface="Calibri"/>
              <a:cs typeface="Calibri"/>
              <a:sym typeface="Calibri"/>
            </a:endParaRPr>
          </a:p>
        </p:txBody>
      </p:sp>
      <p:sp>
        <p:nvSpPr>
          <p:cNvPr id="148" name="Google Shape;148;p6"/>
          <p:cNvSpPr/>
          <p:nvPr/>
        </p:nvSpPr>
        <p:spPr>
          <a:xfrm>
            <a:off x="461772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How well the model separates risky from safe loans across every possible cutoff. Range 0.5 to 1.0.</a:t>
            </a:r>
            <a:endParaRPr b="0" i="0" sz="1300" u="none" cap="none" strike="noStrike">
              <a:solidFill>
                <a:schemeClr val="dk1"/>
              </a:solidFill>
              <a:latin typeface="Calibri"/>
              <a:ea typeface="Calibri"/>
              <a:cs typeface="Calibri"/>
              <a:sym typeface="Calibri"/>
            </a:endParaRPr>
          </a:p>
        </p:txBody>
      </p:sp>
      <p:sp>
        <p:nvSpPr>
          <p:cNvPr id="149" name="Google Shape;149;p6"/>
          <p:cNvSpPr/>
          <p:nvPr/>
        </p:nvSpPr>
        <p:spPr>
          <a:xfrm>
            <a:off x="461772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461772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0.5 means coin-flip, 1.0 means perfect separation</a:t>
            </a:r>
            <a:endParaRPr b="0" i="0" sz="1200" u="none" cap="none" strike="noStrike">
              <a:solidFill>
                <a:schemeClr val="dk1"/>
              </a:solidFill>
              <a:latin typeface="Calibri"/>
              <a:ea typeface="Calibri"/>
              <a:cs typeface="Calibri"/>
              <a:sym typeface="Calibri"/>
            </a:endParaRPr>
          </a:p>
        </p:txBody>
      </p:sp>
      <p:sp>
        <p:nvSpPr>
          <p:cNvPr id="151" name="Google Shape;151;p6"/>
          <p:cNvSpPr/>
          <p:nvPr/>
        </p:nvSpPr>
        <p:spPr>
          <a:xfrm>
            <a:off x="813816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813816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841248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Threshold</a:t>
            </a:r>
            <a:endParaRPr b="0" i="0" sz="1800" u="none" cap="none" strike="noStrike">
              <a:solidFill>
                <a:schemeClr val="dk1"/>
              </a:solidFill>
              <a:latin typeface="Calibri"/>
              <a:ea typeface="Calibri"/>
              <a:cs typeface="Calibri"/>
              <a:sym typeface="Calibri"/>
            </a:endParaRPr>
          </a:p>
        </p:txBody>
      </p:sp>
      <p:sp>
        <p:nvSpPr>
          <p:cNvPr id="154" name="Google Shape;154;p6"/>
          <p:cNvSpPr/>
          <p:nvPr/>
        </p:nvSpPr>
        <p:spPr>
          <a:xfrm>
            <a:off x="841248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The cutoff for turning a probability into yes/no. Default is 0.50, but you can tune it.</a:t>
            </a:r>
            <a:endParaRPr b="0" i="0" sz="1300" u="none" cap="none" strike="noStrike">
              <a:solidFill>
                <a:schemeClr val="dk1"/>
              </a:solidFill>
              <a:latin typeface="Calibri"/>
              <a:ea typeface="Calibri"/>
              <a:cs typeface="Calibri"/>
              <a:sym typeface="Calibri"/>
            </a:endParaRPr>
          </a:p>
        </p:txBody>
      </p:sp>
      <p:sp>
        <p:nvSpPr>
          <p:cNvPr id="155" name="Google Shape;155;p6"/>
          <p:cNvSpPr/>
          <p:nvPr/>
        </p:nvSpPr>
        <p:spPr>
          <a:xfrm>
            <a:off x="841248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841248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the line on a thermometer above which you call it "fever"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1" name="Shape 161"/>
        <p:cNvGrpSpPr/>
        <p:nvPr/>
      </p:nvGrpSpPr>
      <p:grpSpPr>
        <a:xfrm>
          <a:off x="0" y="0"/>
          <a:ext cx="0" cy="0"/>
          <a:chOff x="0" y="0"/>
          <a:chExt cx="0" cy="0"/>
        </a:xfrm>
      </p:grpSpPr>
      <p:sp>
        <p:nvSpPr>
          <p:cNvPr id="162" name="Google Shape;162;p7"/>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164" name="Google Shape;164;p7"/>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5 / 12</a:t>
            </a:r>
            <a:endParaRPr b="0" i="0" sz="1000" u="none" cap="none" strike="noStrike">
              <a:solidFill>
                <a:schemeClr val="dk1"/>
              </a:solidFill>
              <a:latin typeface="Calibri"/>
              <a:ea typeface="Calibri"/>
              <a:cs typeface="Calibri"/>
              <a:sym typeface="Calibri"/>
            </a:endParaRPr>
          </a:p>
        </p:txBody>
      </p:sp>
      <p:pic>
        <p:nvPicPr>
          <p:cNvPr descr="preencoded.png" id="165" name="Google Shape;165;p7"/>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166" name="Google Shape;166;p7"/>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Vocabulary 3 of 3 - Concepts we'll lean on</a:t>
            </a:r>
            <a:endParaRPr b="0" i="0" sz="3000" u="none" cap="none" strike="noStrike">
              <a:solidFill>
                <a:schemeClr val="dk1"/>
              </a:solidFill>
              <a:latin typeface="Calibri"/>
              <a:ea typeface="Calibri"/>
              <a:cs typeface="Calibri"/>
              <a:sym typeface="Calibri"/>
            </a:endParaRPr>
          </a:p>
        </p:txBody>
      </p:sp>
      <p:sp>
        <p:nvSpPr>
          <p:cNvPr id="167" name="Google Shape;167;p7"/>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548640" y="118872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These come up later. Quick definitions now save us five tangents later.</a:t>
            </a:r>
            <a:endParaRPr b="0" i="0" sz="1300" u="none" cap="none" strike="noStrike">
              <a:solidFill>
                <a:schemeClr val="dk1"/>
              </a:solidFill>
              <a:latin typeface="Calibri"/>
              <a:ea typeface="Calibri"/>
              <a:cs typeface="Calibri"/>
              <a:sym typeface="Calibri"/>
            </a:endParaRPr>
          </a:p>
        </p:txBody>
      </p:sp>
      <p:sp>
        <p:nvSpPr>
          <p:cNvPr id="169" name="Google Shape;169;p7"/>
          <p:cNvSpPr/>
          <p:nvPr/>
        </p:nvSpPr>
        <p:spPr>
          <a:xfrm>
            <a:off x="54864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54864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82296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Skew</a:t>
            </a:r>
            <a:endParaRPr b="0" i="0" sz="1800" u="none" cap="none" strike="noStrike">
              <a:solidFill>
                <a:schemeClr val="dk1"/>
              </a:solidFill>
              <a:latin typeface="Calibri"/>
              <a:ea typeface="Calibri"/>
              <a:cs typeface="Calibri"/>
              <a:sym typeface="Calibri"/>
            </a:endParaRPr>
          </a:p>
        </p:txBody>
      </p:sp>
      <p:sp>
        <p:nvSpPr>
          <p:cNvPr id="172" name="Google Shape;172;p7"/>
          <p:cNvSpPr/>
          <p:nvPr/>
        </p:nvSpPr>
        <p:spPr>
          <a:xfrm>
            <a:off x="82296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When most values cluster low but a few are huge. Income is the classic example.</a:t>
            </a:r>
            <a:endParaRPr b="0" i="0" sz="1300" u="none" cap="none" strike="noStrike">
              <a:solidFill>
                <a:schemeClr val="dk1"/>
              </a:solidFill>
              <a:latin typeface="Calibri"/>
              <a:ea typeface="Calibri"/>
              <a:cs typeface="Calibri"/>
              <a:sym typeface="Calibri"/>
            </a:endParaRPr>
          </a:p>
        </p:txBody>
      </p:sp>
      <p:sp>
        <p:nvSpPr>
          <p:cNvPr id="173" name="Google Shape;173;p7"/>
          <p:cNvSpPr/>
          <p:nvPr/>
        </p:nvSpPr>
        <p:spPr>
          <a:xfrm>
            <a:off x="82296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82296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Most people earn $40k-$80k, but a few earn millions. The chart looks lopsided.</a:t>
            </a:r>
            <a:endParaRPr b="0" i="0" sz="1200" u="none" cap="none" strike="noStrike">
              <a:solidFill>
                <a:schemeClr val="dk1"/>
              </a:solidFill>
              <a:latin typeface="Calibri"/>
              <a:ea typeface="Calibri"/>
              <a:cs typeface="Calibri"/>
              <a:sym typeface="Calibri"/>
            </a:endParaRPr>
          </a:p>
        </p:txBody>
      </p:sp>
      <p:sp>
        <p:nvSpPr>
          <p:cNvPr id="175" name="Google Shape;175;p7"/>
          <p:cNvSpPr/>
          <p:nvPr/>
        </p:nvSpPr>
        <p:spPr>
          <a:xfrm>
            <a:off x="434340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434340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461772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Log transform</a:t>
            </a:r>
            <a:endParaRPr b="0" i="0" sz="1800" u="none" cap="none" strike="noStrike">
              <a:solidFill>
                <a:schemeClr val="dk1"/>
              </a:solidFill>
              <a:latin typeface="Calibri"/>
              <a:ea typeface="Calibri"/>
              <a:cs typeface="Calibri"/>
              <a:sym typeface="Calibri"/>
            </a:endParaRPr>
          </a:p>
        </p:txBody>
      </p:sp>
      <p:sp>
        <p:nvSpPr>
          <p:cNvPr id="178" name="Google Shape;178;p7"/>
          <p:cNvSpPr/>
          <p:nvPr/>
        </p:nvSpPr>
        <p:spPr>
          <a:xfrm>
            <a:off x="461772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Replace each value with log(value). Pulls huge numbers down so they stop dominating.</a:t>
            </a:r>
            <a:endParaRPr b="0" i="0" sz="1300" u="none" cap="none" strike="noStrike">
              <a:solidFill>
                <a:schemeClr val="dk1"/>
              </a:solidFill>
              <a:latin typeface="Calibri"/>
              <a:ea typeface="Calibri"/>
              <a:cs typeface="Calibri"/>
              <a:sym typeface="Calibri"/>
            </a:endParaRPr>
          </a:p>
        </p:txBody>
      </p:sp>
      <p:sp>
        <p:nvSpPr>
          <p:cNvPr id="179" name="Google Shape;179;p7"/>
          <p:cNvSpPr/>
          <p:nvPr/>
        </p:nvSpPr>
        <p:spPr>
          <a:xfrm>
            <a:off x="461772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461772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shrinking a giant on a chart so the rest of the data is visible</a:t>
            </a:r>
            <a:endParaRPr b="0" i="0" sz="1200" u="none" cap="none" strike="noStrike">
              <a:solidFill>
                <a:schemeClr val="dk1"/>
              </a:solidFill>
              <a:latin typeface="Calibri"/>
              <a:ea typeface="Calibri"/>
              <a:cs typeface="Calibri"/>
              <a:sym typeface="Calibri"/>
            </a:endParaRPr>
          </a:p>
        </p:txBody>
      </p:sp>
      <p:sp>
        <p:nvSpPr>
          <p:cNvPr id="181" name="Google Shape;181;p7"/>
          <p:cNvSpPr/>
          <p:nvPr/>
        </p:nvSpPr>
        <p:spPr>
          <a:xfrm>
            <a:off x="8138160" y="169164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8138160" y="169164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8412480" y="185623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Data leakage</a:t>
            </a:r>
            <a:endParaRPr b="0" i="0" sz="1800" u="none" cap="none" strike="noStrike">
              <a:solidFill>
                <a:schemeClr val="dk1"/>
              </a:solidFill>
              <a:latin typeface="Calibri"/>
              <a:ea typeface="Calibri"/>
              <a:cs typeface="Calibri"/>
              <a:sym typeface="Calibri"/>
            </a:endParaRPr>
          </a:p>
        </p:txBody>
      </p:sp>
      <p:sp>
        <p:nvSpPr>
          <p:cNvPr id="184" name="Google Shape;184;p7"/>
          <p:cNvSpPr/>
          <p:nvPr/>
        </p:nvSpPr>
        <p:spPr>
          <a:xfrm>
            <a:off x="8412480" y="235000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When info from the test set sneaks into training. Inflates scores; ruins honesty.</a:t>
            </a:r>
            <a:endParaRPr b="0" i="0" sz="1300" u="none" cap="none" strike="noStrike">
              <a:solidFill>
                <a:schemeClr val="dk1"/>
              </a:solidFill>
              <a:latin typeface="Calibri"/>
              <a:ea typeface="Calibri"/>
              <a:cs typeface="Calibri"/>
              <a:sym typeface="Calibri"/>
            </a:endParaRPr>
          </a:p>
        </p:txBody>
      </p:sp>
      <p:sp>
        <p:nvSpPr>
          <p:cNvPr id="185" name="Google Shape;185;p7"/>
          <p:cNvSpPr/>
          <p:nvPr/>
        </p:nvSpPr>
        <p:spPr>
          <a:xfrm>
            <a:off x="8412480" y="324612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8412480" y="338328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studying tomorrow's exam answers, then bragging about your grade</a:t>
            </a:r>
            <a:endParaRPr b="0" i="0" sz="1200" u="none" cap="none" strike="noStrike">
              <a:solidFill>
                <a:schemeClr val="dk1"/>
              </a:solidFill>
              <a:latin typeface="Calibri"/>
              <a:ea typeface="Calibri"/>
              <a:cs typeface="Calibri"/>
              <a:sym typeface="Calibri"/>
            </a:endParaRPr>
          </a:p>
        </p:txBody>
      </p:sp>
      <p:sp>
        <p:nvSpPr>
          <p:cNvPr id="187" name="Google Shape;187;p7"/>
          <p:cNvSpPr/>
          <p:nvPr/>
        </p:nvSpPr>
        <p:spPr>
          <a:xfrm>
            <a:off x="54864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54864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82296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Encoding</a:t>
            </a:r>
            <a:endParaRPr b="0" i="0" sz="1800" u="none" cap="none" strike="noStrike">
              <a:solidFill>
                <a:schemeClr val="dk1"/>
              </a:solidFill>
              <a:latin typeface="Calibri"/>
              <a:ea typeface="Calibri"/>
              <a:cs typeface="Calibri"/>
              <a:sym typeface="Calibri"/>
            </a:endParaRPr>
          </a:p>
        </p:txBody>
      </p:sp>
      <p:sp>
        <p:nvSpPr>
          <p:cNvPr id="190" name="Google Shape;190;p7"/>
          <p:cNvSpPr/>
          <p:nvPr/>
        </p:nvSpPr>
        <p:spPr>
          <a:xfrm>
            <a:off x="82296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Turning text categories into numbers the model can use. Different types for different meanings.</a:t>
            </a:r>
            <a:endParaRPr b="0" i="0" sz="1300" u="none" cap="none" strike="noStrike">
              <a:solidFill>
                <a:schemeClr val="dk1"/>
              </a:solidFill>
              <a:latin typeface="Calibri"/>
              <a:ea typeface="Calibri"/>
              <a:cs typeface="Calibri"/>
              <a:sym typeface="Calibri"/>
            </a:endParaRPr>
          </a:p>
        </p:txBody>
      </p:sp>
      <p:sp>
        <p:nvSpPr>
          <p:cNvPr id="191" name="Google Shape;191;p7"/>
          <p:cNvSpPr/>
          <p:nvPr/>
        </p:nvSpPr>
        <p:spPr>
          <a:xfrm>
            <a:off x="82296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82296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translating from English to math</a:t>
            </a:r>
            <a:endParaRPr b="0" i="0" sz="1200" u="none" cap="none" strike="noStrike">
              <a:solidFill>
                <a:schemeClr val="dk1"/>
              </a:solidFill>
              <a:latin typeface="Calibri"/>
              <a:ea typeface="Calibri"/>
              <a:cs typeface="Calibri"/>
              <a:sym typeface="Calibri"/>
            </a:endParaRPr>
          </a:p>
        </p:txBody>
      </p:sp>
      <p:sp>
        <p:nvSpPr>
          <p:cNvPr id="193" name="Google Shape;193;p7"/>
          <p:cNvSpPr/>
          <p:nvPr/>
        </p:nvSpPr>
        <p:spPr>
          <a:xfrm>
            <a:off x="434340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434340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461772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Scaling</a:t>
            </a:r>
            <a:endParaRPr b="0" i="0" sz="1800" u="none" cap="none" strike="noStrike">
              <a:solidFill>
                <a:schemeClr val="dk1"/>
              </a:solidFill>
              <a:latin typeface="Calibri"/>
              <a:ea typeface="Calibri"/>
              <a:cs typeface="Calibri"/>
              <a:sym typeface="Calibri"/>
            </a:endParaRPr>
          </a:p>
        </p:txBody>
      </p:sp>
      <p:sp>
        <p:nvSpPr>
          <p:cNvPr id="196" name="Google Shape;196;p7"/>
          <p:cNvSpPr/>
          <p:nvPr/>
        </p:nvSpPr>
        <p:spPr>
          <a:xfrm>
            <a:off x="461772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Squeezing all features into a similar range, e.g. 0 to 1. Helps many models behave.</a:t>
            </a:r>
            <a:endParaRPr b="0" i="0" sz="1300" u="none" cap="none" strike="noStrike">
              <a:solidFill>
                <a:schemeClr val="dk1"/>
              </a:solidFill>
              <a:latin typeface="Calibri"/>
              <a:ea typeface="Calibri"/>
              <a:cs typeface="Calibri"/>
              <a:sym typeface="Calibri"/>
            </a:endParaRPr>
          </a:p>
        </p:txBody>
      </p:sp>
      <p:sp>
        <p:nvSpPr>
          <p:cNvPr id="197" name="Google Shape;197;p7"/>
          <p:cNvSpPr/>
          <p:nvPr/>
        </p:nvSpPr>
        <p:spPr>
          <a:xfrm>
            <a:off x="461772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461772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putting different units on the same ruler</a:t>
            </a:r>
            <a:endParaRPr b="0" i="0" sz="1200" u="none" cap="none" strike="noStrike">
              <a:solidFill>
                <a:schemeClr val="dk1"/>
              </a:solidFill>
              <a:latin typeface="Calibri"/>
              <a:ea typeface="Calibri"/>
              <a:cs typeface="Calibri"/>
              <a:sym typeface="Calibri"/>
            </a:endParaRPr>
          </a:p>
        </p:txBody>
      </p:sp>
      <p:sp>
        <p:nvSpPr>
          <p:cNvPr id="199" name="Google Shape;199;p7"/>
          <p:cNvSpPr/>
          <p:nvPr/>
        </p:nvSpPr>
        <p:spPr>
          <a:xfrm>
            <a:off x="8138160" y="4160520"/>
            <a:ext cx="3657600" cy="2331720"/>
          </a:xfrm>
          <a:prstGeom prst="rect">
            <a:avLst/>
          </a:prstGeom>
          <a:solidFill>
            <a:srgbClr val="FEF6F4"/>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8138160" y="4160520"/>
            <a:ext cx="73152" cy="23317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8412480" y="4325112"/>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Ensemble</a:t>
            </a:r>
            <a:endParaRPr b="0" i="0" sz="1800" u="none" cap="none" strike="noStrike">
              <a:solidFill>
                <a:schemeClr val="dk1"/>
              </a:solidFill>
              <a:latin typeface="Calibri"/>
              <a:ea typeface="Calibri"/>
              <a:cs typeface="Calibri"/>
              <a:sym typeface="Calibri"/>
            </a:endParaRPr>
          </a:p>
        </p:txBody>
      </p:sp>
      <p:sp>
        <p:nvSpPr>
          <p:cNvPr id="202" name="Google Shape;202;p7"/>
          <p:cNvSpPr/>
          <p:nvPr/>
        </p:nvSpPr>
        <p:spPr>
          <a:xfrm>
            <a:off x="8412480" y="4818888"/>
            <a:ext cx="3200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Combining several models so they vote, average, or otherwise correct each other's mistakes.</a:t>
            </a:r>
            <a:endParaRPr b="0" i="0" sz="1300" u="none" cap="none" strike="noStrike">
              <a:solidFill>
                <a:schemeClr val="dk1"/>
              </a:solidFill>
              <a:latin typeface="Calibri"/>
              <a:ea typeface="Calibri"/>
              <a:cs typeface="Calibri"/>
              <a:sym typeface="Calibri"/>
            </a:endParaRPr>
          </a:p>
        </p:txBody>
      </p:sp>
      <p:sp>
        <p:nvSpPr>
          <p:cNvPr id="203" name="Google Shape;203;p7"/>
          <p:cNvSpPr/>
          <p:nvPr/>
        </p:nvSpPr>
        <p:spPr>
          <a:xfrm>
            <a:off x="8412480" y="5715000"/>
            <a:ext cx="3108960" cy="13716"/>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8412480" y="585216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200"/>
              <a:buFont typeface="Calibri"/>
              <a:buNone/>
            </a:pPr>
            <a:r>
              <a:rPr b="1" i="1" lang="en-US" sz="1200" u="none" cap="none" strike="noStrike">
                <a:solidFill>
                  <a:srgbClr val="B85042"/>
                </a:solidFill>
                <a:latin typeface="Calibri"/>
                <a:ea typeface="Calibri"/>
                <a:cs typeface="Calibri"/>
                <a:sym typeface="Calibri"/>
              </a:rPr>
              <a:t>Think of it as: </a:t>
            </a:r>
            <a:r>
              <a:rPr b="0" i="1" lang="en-US" sz="1200" u="none" cap="none" strike="noStrike">
                <a:solidFill>
                  <a:srgbClr val="1F2937"/>
                </a:solidFill>
                <a:latin typeface="Calibri"/>
                <a:ea typeface="Calibri"/>
                <a:cs typeface="Calibri"/>
                <a:sym typeface="Calibri"/>
              </a:rPr>
              <a:t>a panel of judges instead of one judge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9" name="Shape 209"/>
        <p:cNvGrpSpPr/>
        <p:nvPr/>
      </p:nvGrpSpPr>
      <p:grpSpPr>
        <a:xfrm>
          <a:off x="0" y="0"/>
          <a:ext cx="0" cy="0"/>
          <a:chOff x="0" y="0"/>
          <a:chExt cx="0" cy="0"/>
        </a:xfrm>
      </p:grpSpPr>
      <p:sp>
        <p:nvSpPr>
          <p:cNvPr id="210" name="Google Shape;210;p8"/>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212" name="Google Shape;212;p8"/>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6 / 12</a:t>
            </a:r>
            <a:endParaRPr b="0" i="0" sz="1000" u="none" cap="none" strike="noStrike">
              <a:solidFill>
                <a:schemeClr val="dk1"/>
              </a:solidFill>
              <a:latin typeface="Calibri"/>
              <a:ea typeface="Calibri"/>
              <a:cs typeface="Calibri"/>
              <a:sym typeface="Calibri"/>
            </a:endParaRPr>
          </a:p>
        </p:txBody>
      </p:sp>
      <p:pic>
        <p:nvPicPr>
          <p:cNvPr descr="preencoded.png" id="213" name="Google Shape;213;p8"/>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214" name="Google Shape;214;p8"/>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The problem and the data</a:t>
            </a:r>
            <a:endParaRPr b="0" i="0" sz="3000" u="none" cap="none" strike="noStrike">
              <a:solidFill>
                <a:schemeClr val="dk1"/>
              </a:solidFill>
              <a:latin typeface="Calibri"/>
              <a:ea typeface="Calibri"/>
              <a:cs typeface="Calibri"/>
              <a:sym typeface="Calibri"/>
            </a:endParaRPr>
          </a:p>
        </p:txBody>
      </p:sp>
      <p:sp>
        <p:nvSpPr>
          <p:cNvPr id="215" name="Google Shape;215;p8"/>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548640" y="1417320"/>
            <a:ext cx="3611880" cy="13716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548640" y="1417320"/>
            <a:ext cx="73152" cy="13716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777240" y="150876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i="0" lang="en-US" sz="1100" u="none" cap="none" strike="noStrike">
                <a:solidFill>
                  <a:srgbClr val="B85042"/>
                </a:solidFill>
                <a:latin typeface="Calibri"/>
                <a:ea typeface="Calibri"/>
                <a:cs typeface="Calibri"/>
                <a:sym typeface="Calibri"/>
              </a:rPr>
              <a:t>Rows of data</a:t>
            </a:r>
            <a:endParaRPr b="0" i="0" sz="1100" u="none" cap="none" strike="noStrike">
              <a:solidFill>
                <a:schemeClr val="dk1"/>
              </a:solidFill>
              <a:latin typeface="Calibri"/>
              <a:ea typeface="Calibri"/>
              <a:cs typeface="Calibri"/>
              <a:sym typeface="Calibri"/>
            </a:endParaRPr>
          </a:p>
        </p:txBody>
      </p:sp>
      <p:sp>
        <p:nvSpPr>
          <p:cNvPr id="219" name="Google Shape;219;p8"/>
          <p:cNvSpPr/>
          <p:nvPr/>
        </p:nvSpPr>
        <p:spPr>
          <a:xfrm>
            <a:off x="777240" y="1783080"/>
            <a:ext cx="3291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libri"/>
              <a:buNone/>
            </a:pPr>
            <a:r>
              <a:rPr b="1" i="0" lang="en-US" sz="3200" u="none" cap="none" strike="noStrike">
                <a:solidFill>
                  <a:srgbClr val="1E2761"/>
                </a:solidFill>
                <a:latin typeface="Calibri"/>
                <a:ea typeface="Calibri"/>
                <a:cs typeface="Calibri"/>
                <a:sym typeface="Calibri"/>
              </a:rPr>
              <a:t>32,581</a:t>
            </a:r>
            <a:endParaRPr b="0" i="0" sz="3200" u="none" cap="none" strike="noStrike">
              <a:solidFill>
                <a:schemeClr val="dk1"/>
              </a:solidFill>
              <a:latin typeface="Calibri"/>
              <a:ea typeface="Calibri"/>
              <a:cs typeface="Calibri"/>
              <a:sym typeface="Calibri"/>
            </a:endParaRPr>
          </a:p>
        </p:txBody>
      </p:sp>
      <p:sp>
        <p:nvSpPr>
          <p:cNvPr id="220" name="Google Shape;220;p8"/>
          <p:cNvSpPr/>
          <p:nvPr/>
        </p:nvSpPr>
        <p:spPr>
          <a:xfrm>
            <a:off x="777240" y="242316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Kaggle Credit Risk dataset</a:t>
            </a:r>
            <a:endParaRPr b="0" i="0" sz="1200" u="none" cap="none" strike="noStrike">
              <a:solidFill>
                <a:schemeClr val="dk1"/>
              </a:solidFill>
              <a:latin typeface="Calibri"/>
              <a:ea typeface="Calibri"/>
              <a:cs typeface="Calibri"/>
              <a:sym typeface="Calibri"/>
            </a:endParaRPr>
          </a:p>
        </p:txBody>
      </p:sp>
      <p:sp>
        <p:nvSpPr>
          <p:cNvPr id="221" name="Google Shape;221;p8"/>
          <p:cNvSpPr/>
          <p:nvPr/>
        </p:nvSpPr>
        <p:spPr>
          <a:xfrm>
            <a:off x="4343400" y="1417320"/>
            <a:ext cx="3611880" cy="13716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4343400" y="1417320"/>
            <a:ext cx="73152" cy="13716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4572000" y="150876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i="0" lang="en-US" sz="1100" u="none" cap="none" strike="noStrike">
                <a:solidFill>
                  <a:srgbClr val="B85042"/>
                </a:solidFill>
                <a:latin typeface="Calibri"/>
                <a:ea typeface="Calibri"/>
                <a:cs typeface="Calibri"/>
                <a:sym typeface="Calibri"/>
              </a:rPr>
              <a:t>Columns</a:t>
            </a:r>
            <a:endParaRPr b="0" i="0" sz="1100" u="none" cap="none" strike="noStrike">
              <a:solidFill>
                <a:schemeClr val="dk1"/>
              </a:solidFill>
              <a:latin typeface="Calibri"/>
              <a:ea typeface="Calibri"/>
              <a:cs typeface="Calibri"/>
              <a:sym typeface="Calibri"/>
            </a:endParaRPr>
          </a:p>
        </p:txBody>
      </p:sp>
      <p:sp>
        <p:nvSpPr>
          <p:cNvPr id="224" name="Google Shape;224;p8"/>
          <p:cNvSpPr/>
          <p:nvPr/>
        </p:nvSpPr>
        <p:spPr>
          <a:xfrm>
            <a:off x="4572000" y="1783080"/>
            <a:ext cx="3291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libri"/>
              <a:buNone/>
            </a:pPr>
            <a:r>
              <a:rPr b="1" i="0" lang="en-US" sz="3200" u="none" cap="none" strike="noStrike">
                <a:solidFill>
                  <a:srgbClr val="1E2761"/>
                </a:solidFill>
                <a:latin typeface="Calibri"/>
                <a:ea typeface="Calibri"/>
                <a:cs typeface="Calibri"/>
                <a:sym typeface="Calibri"/>
              </a:rPr>
              <a:t>11 + answer</a:t>
            </a:r>
            <a:endParaRPr b="0" i="0" sz="3200" u="none" cap="none" strike="noStrike">
              <a:solidFill>
                <a:schemeClr val="dk1"/>
              </a:solidFill>
              <a:latin typeface="Calibri"/>
              <a:ea typeface="Calibri"/>
              <a:cs typeface="Calibri"/>
              <a:sym typeface="Calibri"/>
            </a:endParaRPr>
          </a:p>
        </p:txBody>
      </p:sp>
      <p:sp>
        <p:nvSpPr>
          <p:cNvPr id="225" name="Google Shape;225;p8"/>
          <p:cNvSpPr/>
          <p:nvPr/>
        </p:nvSpPr>
        <p:spPr>
          <a:xfrm>
            <a:off x="4572000" y="242316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Features + loan_status</a:t>
            </a:r>
            <a:endParaRPr b="0" i="0" sz="1200" u="none" cap="none" strike="noStrike">
              <a:solidFill>
                <a:schemeClr val="dk1"/>
              </a:solidFill>
              <a:latin typeface="Calibri"/>
              <a:ea typeface="Calibri"/>
              <a:cs typeface="Calibri"/>
              <a:sym typeface="Calibri"/>
            </a:endParaRPr>
          </a:p>
        </p:txBody>
      </p:sp>
      <p:sp>
        <p:nvSpPr>
          <p:cNvPr id="226" name="Google Shape;226;p8"/>
          <p:cNvSpPr/>
          <p:nvPr/>
        </p:nvSpPr>
        <p:spPr>
          <a:xfrm>
            <a:off x="8138160" y="1417320"/>
            <a:ext cx="3611880" cy="13716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8138160" y="1417320"/>
            <a:ext cx="73152" cy="13716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8366760" y="150876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i="0" lang="en-US" sz="1100" u="none" cap="none" strike="noStrike">
                <a:solidFill>
                  <a:srgbClr val="B85042"/>
                </a:solidFill>
                <a:latin typeface="Calibri"/>
                <a:ea typeface="Calibri"/>
                <a:cs typeface="Calibri"/>
                <a:sym typeface="Calibri"/>
              </a:rPr>
              <a:t>Default rate</a:t>
            </a:r>
            <a:endParaRPr b="0" i="0" sz="1100" u="none" cap="none" strike="noStrike">
              <a:solidFill>
                <a:schemeClr val="dk1"/>
              </a:solidFill>
              <a:latin typeface="Calibri"/>
              <a:ea typeface="Calibri"/>
              <a:cs typeface="Calibri"/>
              <a:sym typeface="Calibri"/>
            </a:endParaRPr>
          </a:p>
        </p:txBody>
      </p:sp>
      <p:sp>
        <p:nvSpPr>
          <p:cNvPr id="229" name="Google Shape;229;p8"/>
          <p:cNvSpPr/>
          <p:nvPr/>
        </p:nvSpPr>
        <p:spPr>
          <a:xfrm>
            <a:off x="8366760" y="1783080"/>
            <a:ext cx="3291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200"/>
              <a:buFont typeface="Calibri"/>
              <a:buNone/>
            </a:pPr>
            <a:r>
              <a:rPr b="1" i="0" lang="en-US" sz="3200" u="none" cap="none" strike="noStrike">
                <a:solidFill>
                  <a:srgbClr val="1E2761"/>
                </a:solidFill>
                <a:latin typeface="Calibri"/>
                <a:ea typeface="Calibri"/>
                <a:cs typeface="Calibri"/>
                <a:sym typeface="Calibri"/>
              </a:rPr>
              <a:t>22%</a:t>
            </a:r>
            <a:endParaRPr b="0" i="0" sz="3200" u="none" cap="none" strike="noStrike">
              <a:solidFill>
                <a:schemeClr val="dk1"/>
              </a:solidFill>
              <a:latin typeface="Calibri"/>
              <a:ea typeface="Calibri"/>
              <a:cs typeface="Calibri"/>
              <a:sym typeface="Calibri"/>
            </a:endParaRPr>
          </a:p>
        </p:txBody>
      </p:sp>
      <p:sp>
        <p:nvSpPr>
          <p:cNvPr id="230" name="Google Shape;230;p8"/>
          <p:cNvSpPr/>
          <p:nvPr/>
        </p:nvSpPr>
        <p:spPr>
          <a:xfrm>
            <a:off x="8366760" y="242316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Most loans are paid back</a:t>
            </a:r>
            <a:endParaRPr b="0" i="0" sz="1200" u="none" cap="none" strike="noStrike">
              <a:solidFill>
                <a:schemeClr val="dk1"/>
              </a:solidFill>
              <a:latin typeface="Calibri"/>
              <a:ea typeface="Calibri"/>
              <a:cs typeface="Calibri"/>
              <a:sym typeface="Calibri"/>
            </a:endParaRPr>
          </a:p>
        </p:txBody>
      </p:sp>
      <p:sp>
        <p:nvSpPr>
          <p:cNvPr id="231" name="Google Shape;231;p8"/>
          <p:cNvSpPr/>
          <p:nvPr/>
        </p:nvSpPr>
        <p:spPr>
          <a:xfrm>
            <a:off x="548640" y="3108960"/>
            <a:ext cx="5577840" cy="32004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777240" y="324612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What we're predicting</a:t>
            </a:r>
            <a:endParaRPr b="0" i="0" sz="1600" u="none" cap="none" strike="noStrike">
              <a:solidFill>
                <a:schemeClr val="dk1"/>
              </a:solidFill>
              <a:latin typeface="Calibri"/>
              <a:ea typeface="Calibri"/>
              <a:cs typeface="Calibri"/>
              <a:sym typeface="Calibri"/>
            </a:endParaRPr>
          </a:p>
        </p:txBody>
      </p:sp>
      <p:sp>
        <p:nvSpPr>
          <p:cNvPr id="233" name="Google Shape;233;p8"/>
          <p:cNvSpPr/>
          <p:nvPr/>
        </p:nvSpPr>
        <p:spPr>
          <a:xfrm>
            <a:off x="777240" y="3611880"/>
            <a:ext cx="5120640" cy="2606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400"/>
              <a:buFont typeface="Calibri"/>
              <a:buChar char="•"/>
            </a:pPr>
            <a:r>
              <a:rPr b="0" i="0" lang="en-US" sz="1400" u="none" cap="none" strike="noStrike">
                <a:solidFill>
                  <a:srgbClr val="1F2937"/>
                </a:solidFill>
                <a:latin typeface="Calibri"/>
                <a:ea typeface="Calibri"/>
                <a:cs typeface="Calibri"/>
                <a:sym typeface="Calibri"/>
              </a:rPr>
              <a:t>Will this loan default?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F2937"/>
              </a:buClr>
              <a:buSzPts val="1400"/>
              <a:buFont typeface="Calibri"/>
              <a:buChar char="•"/>
            </a:pPr>
            <a:r>
              <a:rPr b="0" i="0" lang="en-US" sz="1400" u="none" cap="none" strike="noStrike">
                <a:solidFill>
                  <a:srgbClr val="1F2937"/>
                </a:solidFill>
                <a:latin typeface="Calibri"/>
                <a:ea typeface="Calibri"/>
                <a:cs typeface="Calibri"/>
                <a:sym typeface="Calibri"/>
              </a:rPr>
              <a:t>Inputs: income, age, employment length, loan amount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F2937"/>
              </a:buClr>
              <a:buSzPts val="1400"/>
              <a:buFont typeface="Calibri"/>
              <a:buChar char="•"/>
            </a:pPr>
            <a:r>
              <a:rPr b="0" i="0" lang="en-US" sz="1400" u="none" cap="none" strike="noStrike">
                <a:solidFill>
                  <a:srgbClr val="1F2937"/>
                </a:solidFill>
                <a:latin typeface="Calibri"/>
                <a:ea typeface="Calibri"/>
                <a:cs typeface="Calibri"/>
                <a:sym typeface="Calibri"/>
              </a:rPr>
              <a:t>Plus: loan grade, interest rate, intent, home status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F2937"/>
              </a:buClr>
              <a:buSzPts val="1400"/>
              <a:buFont typeface="Calibri"/>
              <a:buChar char="•"/>
            </a:pPr>
            <a:r>
              <a:rPr b="0" i="0" lang="en-US" sz="1400" u="none" cap="none" strike="noStrike">
                <a:solidFill>
                  <a:srgbClr val="1F2937"/>
                </a:solidFill>
                <a:latin typeface="Calibri"/>
                <a:ea typeface="Calibri"/>
                <a:cs typeface="Calibri"/>
                <a:sym typeface="Calibri"/>
              </a:rPr>
              <a:t>Plus: credit history length and prior default flag</a:t>
            </a:r>
            <a:endParaRPr b="0" i="0" sz="1400" u="none" cap="none" strike="noStrike">
              <a:solidFill>
                <a:schemeClr val="dk1"/>
              </a:solidFill>
              <a:latin typeface="Calibri"/>
              <a:ea typeface="Calibri"/>
              <a:cs typeface="Calibri"/>
              <a:sym typeface="Calibri"/>
            </a:endParaRPr>
          </a:p>
        </p:txBody>
      </p:sp>
      <p:sp>
        <p:nvSpPr>
          <p:cNvPr id="234" name="Google Shape;234;p8"/>
          <p:cNvSpPr/>
          <p:nvPr/>
        </p:nvSpPr>
        <p:spPr>
          <a:xfrm>
            <a:off x="6263640" y="3108960"/>
            <a:ext cx="5349240" cy="32004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6263640" y="3108960"/>
            <a:ext cx="73152" cy="32004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6492240" y="324612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The catch: imbalance</a:t>
            </a:r>
            <a:endParaRPr b="0" i="0" sz="1600" u="none" cap="none" strike="noStrike">
              <a:solidFill>
                <a:schemeClr val="dk1"/>
              </a:solidFill>
              <a:latin typeface="Calibri"/>
              <a:ea typeface="Calibri"/>
              <a:cs typeface="Calibri"/>
              <a:sym typeface="Calibri"/>
            </a:endParaRPr>
          </a:p>
        </p:txBody>
      </p:sp>
      <p:sp>
        <p:nvSpPr>
          <p:cNvPr id="237" name="Google Shape;237;p8"/>
          <p:cNvSpPr/>
          <p:nvPr/>
        </p:nvSpPr>
        <p:spPr>
          <a:xfrm>
            <a:off x="6492240" y="3611880"/>
            <a:ext cx="4937760" cy="2606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400"/>
              <a:buFont typeface="Calibri"/>
              <a:buChar char="•"/>
            </a:pPr>
            <a:r>
              <a:rPr b="0" i="0" lang="en-US" sz="1400" u="none" cap="none" strike="noStrike">
                <a:solidFill>
                  <a:srgbClr val="1F2937"/>
                </a:solidFill>
                <a:latin typeface="Calibri"/>
                <a:ea typeface="Calibri"/>
                <a:cs typeface="Calibri"/>
                <a:sym typeface="Calibri"/>
              </a:rPr>
              <a:t>78% of loans are NOT default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F2937"/>
              </a:buClr>
              <a:buSzPts val="1400"/>
              <a:buFont typeface="Calibri"/>
              <a:buChar char="•"/>
            </a:pPr>
            <a:r>
              <a:rPr b="0" i="0" lang="en-US" sz="1400" u="none" cap="none" strike="noStrike">
                <a:solidFill>
                  <a:srgbClr val="1F2937"/>
                </a:solidFill>
                <a:latin typeface="Calibri"/>
                <a:ea typeface="Calibri"/>
                <a:cs typeface="Calibri"/>
                <a:sym typeface="Calibri"/>
              </a:rPr>
              <a:t>A model that always says "no" scores 78% accuracy</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F2937"/>
              </a:buClr>
              <a:buSzPts val="1400"/>
              <a:buFont typeface="Calibri"/>
              <a:buChar char="•"/>
            </a:pPr>
            <a:r>
              <a:rPr b="0" i="1" lang="en-US" sz="1400" u="none" cap="none" strike="noStrike">
                <a:solidFill>
                  <a:srgbClr val="1F2937"/>
                </a:solidFill>
                <a:latin typeface="Calibri"/>
                <a:ea typeface="Calibri"/>
                <a:cs typeface="Calibri"/>
                <a:sym typeface="Calibri"/>
              </a:rPr>
              <a:t>...without learning anything useful</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F2937"/>
              </a:buClr>
              <a:buSzPts val="1400"/>
              <a:buFont typeface="Calibri"/>
              <a:buChar char="•"/>
            </a:pPr>
            <a:r>
              <a:rPr b="1" i="0" lang="en-US" sz="1400" u="none" cap="none" strike="noStrike">
                <a:solidFill>
                  <a:srgbClr val="1F2937"/>
                </a:solidFill>
                <a:latin typeface="Calibri"/>
                <a:ea typeface="Calibri"/>
                <a:cs typeface="Calibri"/>
                <a:sym typeface="Calibri"/>
              </a:rPr>
              <a:t>So I track Precision, Recall, F1, AND ROC-AUC</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2" name="Shape 242"/>
        <p:cNvGrpSpPr/>
        <p:nvPr/>
      </p:nvGrpSpPr>
      <p:grpSpPr>
        <a:xfrm>
          <a:off x="0" y="0"/>
          <a:ext cx="0" cy="0"/>
          <a:chOff x="0" y="0"/>
          <a:chExt cx="0" cy="0"/>
        </a:xfrm>
      </p:grpSpPr>
      <p:sp>
        <p:nvSpPr>
          <p:cNvPr id="243" name="Google Shape;243;p9"/>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245" name="Google Shape;245;p9"/>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7 / 12</a:t>
            </a:r>
            <a:endParaRPr b="0" i="0" sz="1000" u="none" cap="none" strike="noStrike">
              <a:solidFill>
                <a:schemeClr val="dk1"/>
              </a:solidFill>
              <a:latin typeface="Calibri"/>
              <a:ea typeface="Calibri"/>
              <a:cs typeface="Calibri"/>
              <a:sym typeface="Calibri"/>
            </a:endParaRPr>
          </a:p>
        </p:txBody>
      </p:sp>
      <p:pic>
        <p:nvPicPr>
          <p:cNvPr descr="preencoded.png" id="246" name="Google Shape;246;p9"/>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247" name="Google Shape;247;p9"/>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Splitting the data: 70 / 15 / 15</a:t>
            </a:r>
            <a:endParaRPr b="0" i="0" sz="3000" u="none" cap="none" strike="noStrike">
              <a:solidFill>
                <a:schemeClr val="dk1"/>
              </a:solidFill>
              <a:latin typeface="Calibri"/>
              <a:ea typeface="Calibri"/>
              <a:cs typeface="Calibri"/>
              <a:sym typeface="Calibri"/>
            </a:endParaRPr>
          </a:p>
        </p:txBody>
      </p:sp>
      <p:sp>
        <p:nvSpPr>
          <p:cNvPr id="248" name="Google Shape;248;p9"/>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548640" y="1554480"/>
            <a:ext cx="7766091" cy="1463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548640" y="1554480"/>
            <a:ext cx="7766091"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70%</a:t>
            </a:r>
            <a:endParaRPr b="0" i="0" sz="3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ADCFC"/>
              </a:buClr>
              <a:buSzPts val="1600"/>
              <a:buFont typeface="Calibri"/>
              <a:buNone/>
            </a:pPr>
            <a:r>
              <a:rPr b="0" i="0" lang="en-US" sz="1600" u="none" cap="none" strike="noStrike">
                <a:solidFill>
                  <a:srgbClr val="CADCFC"/>
                </a:solidFill>
                <a:latin typeface="Calibri"/>
                <a:ea typeface="Calibri"/>
                <a:cs typeface="Calibri"/>
                <a:sym typeface="Calibri"/>
              </a:rPr>
              <a:t>Training (~22,800 rows)</a:t>
            </a:r>
            <a:endParaRPr b="0" i="0" sz="3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Where the model learns</a:t>
            </a:r>
            <a:endParaRPr b="0" i="0" sz="3600" u="none" cap="none" strike="noStrike">
              <a:solidFill>
                <a:schemeClr val="dk1"/>
              </a:solidFill>
              <a:latin typeface="Calibri"/>
              <a:ea typeface="Calibri"/>
              <a:cs typeface="Calibri"/>
              <a:sym typeface="Calibri"/>
            </a:endParaRPr>
          </a:p>
        </p:txBody>
      </p:sp>
      <p:sp>
        <p:nvSpPr>
          <p:cNvPr id="251" name="Google Shape;251;p9"/>
          <p:cNvSpPr/>
          <p:nvPr/>
        </p:nvSpPr>
        <p:spPr>
          <a:xfrm>
            <a:off x="8314731" y="1554480"/>
            <a:ext cx="1664162" cy="146304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8314731" y="1554480"/>
            <a:ext cx="1664162"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15%</a:t>
            </a:r>
            <a:endParaRPr b="0"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Validation</a:t>
            </a:r>
            <a:endParaRPr b="0"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0" i="1" lang="en-US" sz="1100" u="none" cap="none" strike="noStrike">
                <a:solidFill>
                  <a:srgbClr val="FFFFFF"/>
                </a:solidFill>
                <a:latin typeface="Calibri"/>
                <a:ea typeface="Calibri"/>
                <a:cs typeface="Calibri"/>
                <a:sym typeface="Calibri"/>
              </a:rPr>
              <a:t>Compare models</a:t>
            </a:r>
            <a:endParaRPr b="0" i="0" sz="2800" u="none" cap="none" strike="noStrike">
              <a:solidFill>
                <a:schemeClr val="dk1"/>
              </a:solidFill>
              <a:latin typeface="Calibri"/>
              <a:ea typeface="Calibri"/>
              <a:cs typeface="Calibri"/>
              <a:sym typeface="Calibri"/>
            </a:endParaRPr>
          </a:p>
        </p:txBody>
      </p:sp>
      <p:sp>
        <p:nvSpPr>
          <p:cNvPr id="253" name="Google Shape;253;p9"/>
          <p:cNvSpPr/>
          <p:nvPr/>
        </p:nvSpPr>
        <p:spPr>
          <a:xfrm>
            <a:off x="9978893" y="1554480"/>
            <a:ext cx="1664162" cy="1463040"/>
          </a:xfrm>
          <a:prstGeom prst="rect">
            <a:avLst/>
          </a:prstGeom>
          <a:solidFill>
            <a:srgbClr val="374151"/>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9978893" y="1554480"/>
            <a:ext cx="1664162"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15%</a:t>
            </a:r>
            <a:endParaRPr b="0"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Test</a:t>
            </a:r>
            <a:endParaRPr b="0" i="0" sz="2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0" i="1" lang="en-US" sz="1100" u="none" cap="none" strike="noStrike">
                <a:solidFill>
                  <a:srgbClr val="FFFFFF"/>
                </a:solidFill>
                <a:latin typeface="Calibri"/>
                <a:ea typeface="Calibri"/>
                <a:cs typeface="Calibri"/>
                <a:sym typeface="Calibri"/>
              </a:rPr>
              <a:t>LOCKED until end</a:t>
            </a:r>
            <a:endParaRPr b="0" i="0" sz="2800" u="none" cap="none" strike="noStrike">
              <a:solidFill>
                <a:schemeClr val="dk1"/>
              </a:solidFill>
              <a:latin typeface="Calibri"/>
              <a:ea typeface="Calibri"/>
              <a:cs typeface="Calibri"/>
              <a:sym typeface="Calibri"/>
            </a:endParaRPr>
          </a:p>
        </p:txBody>
      </p:sp>
      <p:sp>
        <p:nvSpPr>
          <p:cNvPr id="255" name="Google Shape;255;p9"/>
          <p:cNvSpPr/>
          <p:nvPr/>
        </p:nvSpPr>
        <p:spPr>
          <a:xfrm>
            <a:off x="548640" y="3108960"/>
            <a:ext cx="11094415"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400"/>
              <a:buFont typeface="Calibri"/>
              <a:buNone/>
            </a:pPr>
            <a:r>
              <a:rPr b="0" i="1" lang="en-US" sz="1400" u="none" cap="none" strike="noStrike">
                <a:solidFill>
                  <a:srgbClr val="6B7280"/>
                </a:solidFill>
                <a:latin typeface="Calibri"/>
                <a:ea typeface="Calibri"/>
                <a:cs typeface="Calibri"/>
                <a:sym typeface="Calibri"/>
              </a:rPr>
              <a:t>Stratified - each split keeps the same 78/22 default ratio</a:t>
            </a:r>
            <a:endParaRPr b="0" i="0" sz="1400" u="none" cap="none" strike="noStrike">
              <a:solidFill>
                <a:schemeClr val="dk1"/>
              </a:solidFill>
              <a:latin typeface="Calibri"/>
              <a:ea typeface="Calibri"/>
              <a:cs typeface="Calibri"/>
              <a:sym typeface="Calibri"/>
            </a:endParaRPr>
          </a:p>
        </p:txBody>
      </p:sp>
      <p:sp>
        <p:nvSpPr>
          <p:cNvPr id="256" name="Google Shape;256;p9"/>
          <p:cNvSpPr/>
          <p:nvPr/>
        </p:nvSpPr>
        <p:spPr>
          <a:xfrm>
            <a:off x="548640" y="3931920"/>
            <a:ext cx="5577840" cy="242316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548640" y="3931920"/>
            <a:ext cx="73152" cy="242316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868680" y="406908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Why I split it twice</a:t>
            </a:r>
            <a:endParaRPr b="0" i="0" sz="1600" u="none" cap="none" strike="noStrike">
              <a:solidFill>
                <a:schemeClr val="dk1"/>
              </a:solidFill>
              <a:latin typeface="Calibri"/>
              <a:ea typeface="Calibri"/>
              <a:cs typeface="Calibri"/>
              <a:sym typeface="Calibri"/>
            </a:endParaRPr>
          </a:p>
        </p:txBody>
      </p:sp>
      <p:sp>
        <p:nvSpPr>
          <p:cNvPr id="259" name="Google Shape;259;p9"/>
          <p:cNvSpPr/>
          <p:nvPr/>
        </p:nvSpPr>
        <p:spPr>
          <a:xfrm>
            <a:off x="868680" y="4434840"/>
            <a:ext cx="5120640" cy="18288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First I tried just 70/30</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After researching, I cut the 30 in half</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Validation = where I compare models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300"/>
              <a:buFont typeface="Calibri"/>
              <a:buChar char="•"/>
            </a:pPr>
            <a:r>
              <a:rPr b="1" i="0" lang="en-US" sz="1300" u="none" cap="none" strike="noStrike">
                <a:solidFill>
                  <a:srgbClr val="1F2937"/>
                </a:solidFill>
                <a:latin typeface="Calibri"/>
                <a:ea typeface="Calibri"/>
                <a:cs typeface="Calibri"/>
                <a:sym typeface="Calibri"/>
              </a:rPr>
              <a:t>Test = touched ONCE, at the very end</a:t>
            </a:r>
            <a:endParaRPr b="0" i="0" sz="1300" u="none" cap="none" strike="noStrike">
              <a:solidFill>
                <a:schemeClr val="dk1"/>
              </a:solidFill>
              <a:latin typeface="Calibri"/>
              <a:ea typeface="Calibri"/>
              <a:cs typeface="Calibri"/>
              <a:sym typeface="Calibri"/>
            </a:endParaRPr>
          </a:p>
        </p:txBody>
      </p:sp>
      <p:sp>
        <p:nvSpPr>
          <p:cNvPr id="260" name="Google Shape;260;p9"/>
          <p:cNvSpPr/>
          <p:nvPr/>
        </p:nvSpPr>
        <p:spPr>
          <a:xfrm>
            <a:off x="6263640" y="3931920"/>
            <a:ext cx="5349240" cy="242316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6263640" y="3931920"/>
            <a:ext cx="73152" cy="242316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6583680" y="4069080"/>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libri"/>
              <a:buNone/>
            </a:pPr>
            <a:r>
              <a:rPr b="1" i="0" lang="en-US" sz="1600" u="none" cap="none" strike="noStrike">
                <a:solidFill>
                  <a:srgbClr val="1E2761"/>
                </a:solidFill>
                <a:latin typeface="Calibri"/>
                <a:ea typeface="Calibri"/>
                <a:cs typeface="Calibri"/>
                <a:sym typeface="Calibri"/>
              </a:rPr>
              <a:t>Why stratified sampling</a:t>
            </a:r>
            <a:endParaRPr b="0" i="0" sz="1600" u="none" cap="none" strike="noStrike">
              <a:solidFill>
                <a:schemeClr val="dk1"/>
              </a:solidFill>
              <a:latin typeface="Calibri"/>
              <a:ea typeface="Calibri"/>
              <a:cs typeface="Calibri"/>
              <a:sym typeface="Calibri"/>
            </a:endParaRPr>
          </a:p>
        </p:txBody>
      </p:sp>
      <p:sp>
        <p:nvSpPr>
          <p:cNvPr id="263" name="Google Shape;263;p9"/>
          <p:cNvSpPr/>
          <p:nvPr/>
        </p:nvSpPr>
        <p:spPr>
          <a:xfrm>
            <a:off x="6583680" y="4434840"/>
            <a:ext cx="4937760" cy="18288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Random splits could get unlucky</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Imagine a test set with almost no defaulters in it</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Stratified sampling forces each split to keep the 78/22 ratio</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Stable metrics, no surprises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8" name="Shape 268"/>
        <p:cNvGrpSpPr/>
        <p:nvPr/>
      </p:nvGrpSpPr>
      <p:grpSpPr>
        <a:xfrm>
          <a:off x="0" y="0"/>
          <a:ext cx="0" cy="0"/>
          <a:chOff x="0" y="0"/>
          <a:chExt cx="0" cy="0"/>
        </a:xfrm>
      </p:grpSpPr>
      <p:sp>
        <p:nvSpPr>
          <p:cNvPr id="269" name="Google Shape;269;p10"/>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271" name="Google Shape;271;p10"/>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8 / 12</a:t>
            </a:r>
            <a:endParaRPr b="0" i="0" sz="1000" u="none" cap="none" strike="noStrike">
              <a:solidFill>
                <a:schemeClr val="dk1"/>
              </a:solidFill>
              <a:latin typeface="Calibri"/>
              <a:ea typeface="Calibri"/>
              <a:cs typeface="Calibri"/>
              <a:sym typeface="Calibri"/>
            </a:endParaRPr>
          </a:p>
        </p:txBody>
      </p:sp>
      <p:pic>
        <p:nvPicPr>
          <p:cNvPr descr="preencoded.png" id="272" name="Google Shape;272;p10"/>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273" name="Google Shape;273;p10"/>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The log transform: taming huge numbers</a:t>
            </a:r>
            <a:endParaRPr b="0" i="0" sz="3000" u="none" cap="none" strike="noStrike">
              <a:solidFill>
                <a:schemeClr val="dk1"/>
              </a:solidFill>
              <a:latin typeface="Calibri"/>
              <a:ea typeface="Calibri"/>
              <a:cs typeface="Calibri"/>
              <a:sym typeface="Calibri"/>
            </a:endParaRPr>
          </a:p>
        </p:txBody>
      </p:sp>
      <p:sp>
        <p:nvSpPr>
          <p:cNvPr id="274" name="Google Shape;274;p10"/>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548640" y="1417320"/>
            <a:ext cx="5120640" cy="169164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548640" y="1417320"/>
            <a:ext cx="73152" cy="169164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868680" y="15087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i="0" lang="en-US" sz="1100" u="none" cap="none" strike="noStrike">
                <a:solidFill>
                  <a:srgbClr val="B85042"/>
                </a:solidFill>
                <a:latin typeface="Calibri"/>
                <a:ea typeface="Calibri"/>
                <a:cs typeface="Calibri"/>
                <a:sym typeface="Calibri"/>
              </a:rPr>
              <a:t>What I did</a:t>
            </a:r>
            <a:endParaRPr b="0" i="0" sz="1100" u="none" cap="none" strike="noStrike">
              <a:solidFill>
                <a:schemeClr val="dk1"/>
              </a:solidFill>
              <a:latin typeface="Calibri"/>
              <a:ea typeface="Calibri"/>
              <a:cs typeface="Calibri"/>
              <a:sym typeface="Calibri"/>
            </a:endParaRPr>
          </a:p>
        </p:txBody>
      </p:sp>
      <p:sp>
        <p:nvSpPr>
          <p:cNvPr id="278" name="Google Shape;278;p10"/>
          <p:cNvSpPr/>
          <p:nvPr/>
        </p:nvSpPr>
        <p:spPr>
          <a:xfrm>
            <a:off x="868680" y="1783080"/>
            <a:ext cx="4572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onsolas"/>
              <a:buNone/>
            </a:pPr>
            <a:r>
              <a:rPr b="1" i="0" lang="en-US" sz="2200" u="none" cap="none" strike="noStrike">
                <a:solidFill>
                  <a:srgbClr val="1E2761"/>
                </a:solidFill>
                <a:latin typeface="Consolas"/>
                <a:ea typeface="Consolas"/>
                <a:cs typeface="Consolas"/>
                <a:sym typeface="Consolas"/>
              </a:rPr>
              <a:t>np.log1p(x) = ln(1 + x)</a:t>
            </a:r>
            <a:endParaRPr b="0" i="0" sz="2200" u="none" cap="none" strike="noStrike">
              <a:solidFill>
                <a:schemeClr val="dk1"/>
              </a:solidFill>
              <a:latin typeface="Calibri"/>
              <a:ea typeface="Calibri"/>
              <a:cs typeface="Calibri"/>
              <a:sym typeface="Calibri"/>
            </a:endParaRPr>
          </a:p>
        </p:txBody>
      </p:sp>
      <p:sp>
        <p:nvSpPr>
          <p:cNvPr id="279" name="Google Shape;279;p10"/>
          <p:cNvSpPr/>
          <p:nvPr/>
        </p:nvSpPr>
        <p:spPr>
          <a:xfrm>
            <a:off x="868680" y="2331720"/>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0" i="1" lang="en-US" sz="1300" u="none" cap="none" strike="noStrike">
                <a:solidFill>
                  <a:srgbClr val="1F2937"/>
                </a:solidFill>
                <a:latin typeface="Calibri"/>
                <a:ea typeface="Calibri"/>
                <a:cs typeface="Calibri"/>
                <a:sym typeface="Calibri"/>
              </a:rPr>
              <a:t>Applied to person_income and loan_amnt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1" lang="en-US" sz="1300" u="none" cap="none" strike="noStrike">
                <a:solidFill>
                  <a:srgbClr val="1F2937"/>
                </a:solidFill>
                <a:latin typeface="Calibri"/>
                <a:ea typeface="Calibri"/>
                <a:cs typeface="Calibri"/>
                <a:sym typeface="Calibri"/>
              </a:rPr>
              <a:t>log1p handles zero safely; plain log can't</a:t>
            </a:r>
            <a:endParaRPr b="0" i="0" sz="1300" u="none" cap="none" strike="noStrike">
              <a:solidFill>
                <a:schemeClr val="dk1"/>
              </a:solidFill>
              <a:latin typeface="Calibri"/>
              <a:ea typeface="Calibri"/>
              <a:cs typeface="Calibri"/>
              <a:sym typeface="Calibri"/>
            </a:endParaRPr>
          </a:p>
        </p:txBody>
      </p:sp>
      <p:sp>
        <p:nvSpPr>
          <p:cNvPr id="280" name="Google Shape;280;p10"/>
          <p:cNvSpPr/>
          <p:nvPr/>
        </p:nvSpPr>
        <p:spPr>
          <a:xfrm>
            <a:off x="5806440" y="1417320"/>
            <a:ext cx="5806440" cy="169164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6080760" y="1508760"/>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Why I needed this</a:t>
            </a:r>
            <a:endParaRPr b="0" i="0" sz="1400" u="none" cap="none" strike="noStrike">
              <a:solidFill>
                <a:schemeClr val="dk1"/>
              </a:solidFill>
              <a:latin typeface="Calibri"/>
              <a:ea typeface="Calibri"/>
              <a:cs typeface="Calibri"/>
              <a:sym typeface="Calibri"/>
            </a:endParaRPr>
          </a:p>
        </p:txBody>
      </p:sp>
      <p:sp>
        <p:nvSpPr>
          <p:cNvPr id="282" name="Google Shape;282;p10"/>
          <p:cNvSpPr/>
          <p:nvPr/>
        </p:nvSpPr>
        <p:spPr>
          <a:xfrm>
            <a:off x="6080760" y="1874520"/>
            <a:ext cx="5394960" cy="1188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A few people in the data earn millions</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Those huge numbers were dominating the model</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Log compresses them so the rest of the data shows</a:t>
            </a:r>
            <a:endParaRPr b="0" i="0" sz="1300" u="none" cap="none" strike="noStrike">
              <a:solidFill>
                <a:schemeClr val="dk1"/>
              </a:solidFill>
              <a:latin typeface="Calibri"/>
              <a:ea typeface="Calibri"/>
              <a:cs typeface="Calibri"/>
              <a:sym typeface="Calibri"/>
            </a:endParaRPr>
          </a:p>
        </p:txBody>
      </p:sp>
      <p:sp>
        <p:nvSpPr>
          <p:cNvPr id="283" name="Google Shape;283;p10"/>
          <p:cNvSpPr/>
          <p:nvPr/>
        </p:nvSpPr>
        <p:spPr>
          <a:xfrm>
            <a:off x="548640" y="324612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Skew before vs after - measured directly on the data</a:t>
            </a:r>
            <a:endParaRPr b="0" i="0" sz="1400" u="none" cap="none" strike="noStrike">
              <a:solidFill>
                <a:schemeClr val="dk1"/>
              </a:solidFill>
              <a:latin typeface="Calibri"/>
              <a:ea typeface="Calibri"/>
              <a:cs typeface="Calibri"/>
              <a:sym typeface="Calibri"/>
            </a:endParaRPr>
          </a:p>
        </p:txBody>
      </p:sp>
      <p:sp>
        <p:nvSpPr>
          <p:cNvPr id="284" name="Google Shape;284;p10"/>
          <p:cNvSpPr/>
          <p:nvPr/>
        </p:nvSpPr>
        <p:spPr>
          <a:xfrm>
            <a:off x="7178040" y="3611880"/>
            <a:ext cx="4434840" cy="278892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7178040" y="3611880"/>
            <a:ext cx="73152" cy="278892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7452360" y="3703320"/>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i="0" lang="en-US" sz="1100" u="none" cap="none" strike="noStrike">
                <a:solidFill>
                  <a:srgbClr val="B85042"/>
                </a:solidFill>
                <a:latin typeface="Calibri"/>
                <a:ea typeface="Calibri"/>
                <a:cs typeface="Calibri"/>
                <a:sym typeface="Calibri"/>
              </a:rPr>
              <a:t>What clicked for me</a:t>
            </a:r>
            <a:endParaRPr b="0" i="0" sz="1100" u="none" cap="none" strike="noStrike">
              <a:solidFill>
                <a:schemeClr val="dk1"/>
              </a:solidFill>
              <a:latin typeface="Calibri"/>
              <a:ea typeface="Calibri"/>
              <a:cs typeface="Calibri"/>
              <a:sym typeface="Calibri"/>
            </a:endParaRPr>
          </a:p>
        </p:txBody>
      </p:sp>
      <p:sp>
        <p:nvSpPr>
          <p:cNvPr id="287" name="Google Shape;287;p10"/>
          <p:cNvSpPr/>
          <p:nvPr/>
        </p:nvSpPr>
        <p:spPr>
          <a:xfrm>
            <a:off x="7452360" y="4023360"/>
            <a:ext cx="4023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600"/>
              <a:buFont typeface="Calibri"/>
              <a:buNone/>
            </a:pPr>
            <a:r>
              <a:rPr b="1" i="0" lang="en-US" sz="2600" u="none" cap="none" strike="noStrike">
                <a:solidFill>
                  <a:srgbClr val="1E2761"/>
                </a:solidFill>
                <a:latin typeface="Calibri"/>
                <a:ea typeface="Calibri"/>
                <a:cs typeface="Calibri"/>
                <a:sym typeface="Calibri"/>
              </a:rPr>
              <a:t>32.87  →  0.16</a:t>
            </a:r>
            <a:endParaRPr b="0" i="0" sz="2600" u="none" cap="none" strike="noStrike">
              <a:solidFill>
                <a:schemeClr val="dk1"/>
              </a:solidFill>
              <a:latin typeface="Calibri"/>
              <a:ea typeface="Calibri"/>
              <a:cs typeface="Calibri"/>
              <a:sym typeface="Calibri"/>
            </a:endParaRPr>
          </a:p>
        </p:txBody>
      </p:sp>
      <p:sp>
        <p:nvSpPr>
          <p:cNvPr id="288" name="Google Shape;288;p10"/>
          <p:cNvSpPr/>
          <p:nvPr/>
        </p:nvSpPr>
        <p:spPr>
          <a:xfrm>
            <a:off x="7452360" y="4526280"/>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1" lang="en-US" sz="1100" u="none" cap="none" strike="noStrike">
                <a:solidFill>
                  <a:srgbClr val="6B7280"/>
                </a:solidFill>
                <a:latin typeface="Calibri"/>
                <a:ea typeface="Calibri"/>
                <a:cs typeface="Calibri"/>
                <a:sym typeface="Calibri"/>
              </a:rPr>
              <a:t>(Income skew, raw vs after log)</a:t>
            </a:r>
            <a:endParaRPr b="0" i="0" sz="1100" u="none" cap="none" strike="noStrike">
              <a:solidFill>
                <a:schemeClr val="dk1"/>
              </a:solidFill>
              <a:latin typeface="Calibri"/>
              <a:ea typeface="Calibri"/>
              <a:cs typeface="Calibri"/>
              <a:sym typeface="Calibri"/>
            </a:endParaRPr>
          </a:p>
        </p:txBody>
      </p:sp>
      <p:sp>
        <p:nvSpPr>
          <p:cNvPr id="289" name="Google Shape;289;p10"/>
          <p:cNvSpPr/>
          <p:nvPr/>
        </p:nvSpPr>
        <p:spPr>
          <a:xfrm>
            <a:off x="7452360" y="4892040"/>
            <a:ext cx="4023360" cy="1417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Calibri"/>
              <a:buNone/>
            </a:pPr>
            <a:r>
              <a:rPr b="0" i="0" lang="en-US" sz="1200" u="none" cap="none" strike="noStrike">
                <a:solidFill>
                  <a:srgbClr val="1F2937"/>
                </a:solidFill>
                <a:latin typeface="Calibri"/>
                <a:ea typeface="Calibri"/>
                <a:cs typeface="Calibri"/>
                <a:sym typeface="Calibri"/>
              </a:rPr>
              <a:t>$6M earner used to be 110× the median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200"/>
              <a:buFont typeface="Calibri"/>
              <a:buNone/>
            </a:pPr>
            <a:r>
              <a:rPr b="0" i="0" lang="en-US" sz="1200" u="none" cap="none" strike="noStrike">
                <a:solidFill>
                  <a:srgbClr val="1F2937"/>
                </a:solidFill>
                <a:latin typeface="Calibri"/>
                <a:ea typeface="Calibri"/>
                <a:cs typeface="Calibri"/>
                <a:sym typeface="Calibri"/>
              </a:rPr>
              <a:t>After log: only 1.4× the median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200"/>
              <a:buFont typeface="Calibri"/>
              <a:buNone/>
            </a:pPr>
            <a:r>
              <a:rPr b="0" i="0" lang="en-US" sz="1200" u="none" cap="none" strike="noStrike">
                <a:solidFill>
                  <a:srgbClr val="1F2937"/>
                </a:solidFill>
                <a:latin typeface="Calibri"/>
                <a:ea typeface="Calibri"/>
                <a:cs typeface="Calibri"/>
                <a:sym typeface="Calibri"/>
              </a:rPr>
              <a:t>The model finally sees them as just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200"/>
              <a:buFont typeface="Calibri"/>
              <a:buNone/>
            </a:pPr>
            <a:r>
              <a:rPr b="0" i="1" lang="en-US" sz="1200" u="none" cap="none" strike="noStrike">
                <a:solidFill>
                  <a:srgbClr val="1F2937"/>
                </a:solidFill>
                <a:latin typeface="Calibri"/>
                <a:ea typeface="Calibri"/>
                <a:cs typeface="Calibri"/>
                <a:sym typeface="Calibri"/>
              </a:rPr>
              <a:t>"a high earner", not a wrecking ball</a:t>
            </a:r>
            <a:endParaRPr b="0" i="0" sz="1200" u="none" cap="none" strike="noStrike">
              <a:solidFill>
                <a:schemeClr val="dk1"/>
              </a:solidFill>
              <a:latin typeface="Calibri"/>
              <a:ea typeface="Calibri"/>
              <a:cs typeface="Calibri"/>
              <a:sym typeface="Calibri"/>
            </a:endParaRPr>
          </a:p>
        </p:txBody>
      </p:sp>
      <p:pic>
        <p:nvPicPr>
          <p:cNvPr descr="/home/claude/skew_chart.png" id="290" name="Google Shape;290;p10"/>
          <p:cNvPicPr preferRelativeResize="0"/>
          <p:nvPr/>
        </p:nvPicPr>
        <p:blipFill rotWithShape="1">
          <a:blip r:embed="rId4">
            <a:alphaModFix/>
          </a:blip>
          <a:srcRect b="0" l="0" r="0" t="0"/>
          <a:stretch/>
        </p:blipFill>
        <p:spPr>
          <a:xfrm>
            <a:off x="548640" y="3611880"/>
            <a:ext cx="6400801" cy="27889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5" name="Shape 295"/>
        <p:cNvGrpSpPr/>
        <p:nvPr/>
      </p:nvGrpSpPr>
      <p:grpSpPr>
        <a:xfrm>
          <a:off x="0" y="0"/>
          <a:ext cx="0" cy="0"/>
          <a:chOff x="0" y="0"/>
          <a:chExt cx="0" cy="0"/>
        </a:xfrm>
      </p:grpSpPr>
      <p:sp>
        <p:nvSpPr>
          <p:cNvPr id="296" name="Google Shape;296;p11"/>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298" name="Google Shape;298;p11"/>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9 / 12</a:t>
            </a:r>
            <a:endParaRPr b="0" i="0" sz="1000" u="none" cap="none" strike="noStrike">
              <a:solidFill>
                <a:schemeClr val="dk1"/>
              </a:solidFill>
              <a:latin typeface="Calibri"/>
              <a:ea typeface="Calibri"/>
              <a:cs typeface="Calibri"/>
              <a:sym typeface="Calibri"/>
            </a:endParaRPr>
          </a:p>
        </p:txBody>
      </p:sp>
      <p:pic>
        <p:nvPicPr>
          <p:cNvPr descr="preencoded.png" id="299" name="Google Shape;299;p11"/>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300" name="Google Shape;300;p11"/>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Other cleaning steps</a:t>
            </a:r>
            <a:endParaRPr b="0" i="0" sz="3000" u="none" cap="none" strike="noStrike">
              <a:solidFill>
                <a:schemeClr val="dk1"/>
              </a:solidFill>
              <a:latin typeface="Calibri"/>
              <a:ea typeface="Calibri"/>
              <a:cs typeface="Calibri"/>
              <a:sym typeface="Calibri"/>
            </a:endParaRPr>
          </a:p>
        </p:txBody>
      </p:sp>
      <p:sp>
        <p:nvSpPr>
          <p:cNvPr id="301" name="Google Shape;301;p11"/>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548640" y="1417320"/>
            <a:ext cx="2697480" cy="36576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548640" y="1417320"/>
            <a:ext cx="73152" cy="36576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777240" y="160020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1. Cap impossible values</a:t>
            </a:r>
            <a:endParaRPr b="0" i="0" sz="1500" u="none" cap="none" strike="noStrike">
              <a:solidFill>
                <a:schemeClr val="dk1"/>
              </a:solidFill>
              <a:latin typeface="Calibri"/>
              <a:ea typeface="Calibri"/>
              <a:cs typeface="Calibri"/>
              <a:sym typeface="Calibri"/>
            </a:endParaRPr>
          </a:p>
        </p:txBody>
      </p:sp>
      <p:sp>
        <p:nvSpPr>
          <p:cNvPr id="305" name="Google Shape;305;p11"/>
          <p:cNvSpPr/>
          <p:nvPr/>
        </p:nvSpPr>
        <p:spPr>
          <a:xfrm>
            <a:off x="777240" y="2240280"/>
            <a:ext cx="2331720" cy="26517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Age clipped to 18-100</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Employment length clipped to 100</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Original data had a 144-year-old and a 123-year employment value</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Clipping fixes the impossible without dropping the row</a:t>
            </a:r>
            <a:endParaRPr b="0" i="0" sz="1200" u="none" cap="none" strike="noStrike">
              <a:solidFill>
                <a:schemeClr val="dk1"/>
              </a:solidFill>
              <a:latin typeface="Calibri"/>
              <a:ea typeface="Calibri"/>
              <a:cs typeface="Calibri"/>
              <a:sym typeface="Calibri"/>
            </a:endParaRPr>
          </a:p>
        </p:txBody>
      </p:sp>
      <p:sp>
        <p:nvSpPr>
          <p:cNvPr id="306" name="Google Shape;306;p11"/>
          <p:cNvSpPr/>
          <p:nvPr/>
        </p:nvSpPr>
        <p:spPr>
          <a:xfrm>
            <a:off x="3383280" y="1417320"/>
            <a:ext cx="2697480" cy="36576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3383280" y="1417320"/>
            <a:ext cx="73152" cy="36576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3611880" y="160020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2. Fill in missing values</a:t>
            </a:r>
            <a:endParaRPr b="0" i="0" sz="1500" u="none" cap="none" strike="noStrike">
              <a:solidFill>
                <a:schemeClr val="dk1"/>
              </a:solidFill>
              <a:latin typeface="Calibri"/>
              <a:ea typeface="Calibri"/>
              <a:cs typeface="Calibri"/>
              <a:sym typeface="Calibri"/>
            </a:endParaRPr>
          </a:p>
        </p:txBody>
      </p:sp>
      <p:sp>
        <p:nvSpPr>
          <p:cNvPr id="309" name="Google Shape;309;p11"/>
          <p:cNvSpPr/>
          <p:nvPr/>
        </p:nvSpPr>
        <p:spPr>
          <a:xfrm>
            <a:off x="3611880" y="2240280"/>
            <a:ext cx="2331720" cy="26517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Some employment lengths and interest rates were blank</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Filled employment length with the training median</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Filled interest rate with median for each loan grade</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Grade and rate are tightly linked, so this is more accurate</a:t>
            </a:r>
            <a:endParaRPr b="0" i="0" sz="1200" u="none" cap="none" strike="noStrike">
              <a:solidFill>
                <a:schemeClr val="dk1"/>
              </a:solidFill>
              <a:latin typeface="Calibri"/>
              <a:ea typeface="Calibri"/>
              <a:cs typeface="Calibri"/>
              <a:sym typeface="Calibri"/>
            </a:endParaRPr>
          </a:p>
        </p:txBody>
      </p:sp>
      <p:sp>
        <p:nvSpPr>
          <p:cNvPr id="310" name="Google Shape;310;p11"/>
          <p:cNvSpPr/>
          <p:nvPr/>
        </p:nvSpPr>
        <p:spPr>
          <a:xfrm>
            <a:off x="6217920" y="1417320"/>
            <a:ext cx="2697480" cy="36576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6217920" y="1417320"/>
            <a:ext cx="73152" cy="36576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6446520" y="160020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3. Build new features</a:t>
            </a:r>
            <a:endParaRPr b="0" i="0" sz="1500" u="none" cap="none" strike="noStrike">
              <a:solidFill>
                <a:schemeClr val="dk1"/>
              </a:solidFill>
              <a:latin typeface="Calibri"/>
              <a:ea typeface="Calibri"/>
              <a:cs typeface="Calibri"/>
              <a:sym typeface="Calibri"/>
            </a:endParaRPr>
          </a:p>
        </p:txBody>
      </p:sp>
      <p:sp>
        <p:nvSpPr>
          <p:cNvPr id="313" name="Google Shape;313;p11"/>
          <p:cNvSpPr/>
          <p:nvPr/>
        </p:nvSpPr>
        <p:spPr>
          <a:xfrm>
            <a:off x="6446520" y="2240280"/>
            <a:ext cx="2331720" cy="26517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debt_to_income_ratio = loan / income</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income_per_credit_year</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credit_history_to_age_ratio</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Built BEFORE log transform, so they stay in real dollars</a:t>
            </a:r>
            <a:endParaRPr b="0" i="0" sz="1200" u="none" cap="none" strike="noStrike">
              <a:solidFill>
                <a:schemeClr val="dk1"/>
              </a:solidFill>
              <a:latin typeface="Calibri"/>
              <a:ea typeface="Calibri"/>
              <a:cs typeface="Calibri"/>
              <a:sym typeface="Calibri"/>
            </a:endParaRPr>
          </a:p>
        </p:txBody>
      </p:sp>
      <p:sp>
        <p:nvSpPr>
          <p:cNvPr id="314" name="Google Shape;314;p11"/>
          <p:cNvSpPr/>
          <p:nvPr/>
        </p:nvSpPr>
        <p:spPr>
          <a:xfrm>
            <a:off x="9052560" y="1417320"/>
            <a:ext cx="2697480" cy="365760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9052560" y="1417320"/>
            <a:ext cx="73152" cy="36576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9281160" y="160020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4. Encode and scale</a:t>
            </a:r>
            <a:endParaRPr b="0" i="0" sz="1500" u="none" cap="none" strike="noStrike">
              <a:solidFill>
                <a:schemeClr val="dk1"/>
              </a:solidFill>
              <a:latin typeface="Calibri"/>
              <a:ea typeface="Calibri"/>
              <a:cs typeface="Calibri"/>
              <a:sym typeface="Calibri"/>
            </a:endParaRPr>
          </a:p>
        </p:txBody>
      </p:sp>
      <p:sp>
        <p:nvSpPr>
          <p:cNvPr id="317" name="Google Shape;317;p11"/>
          <p:cNvSpPr/>
          <p:nvPr/>
        </p:nvSpPr>
        <p:spPr>
          <a:xfrm>
            <a:off x="9281160" y="2240280"/>
            <a:ext cx="2331720" cy="26517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Loan grade A...G → 1...7 (it's ordered)</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Default flag → 0/1</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Home ownership, loan intent → one-hot</a:t>
            </a:r>
            <a:endParaRPr b="0" i="0" sz="12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Everything scaled to [0, 1]</a:t>
            </a:r>
            <a:endParaRPr b="0" i="0" sz="1200" u="none" cap="none" strike="noStrike">
              <a:solidFill>
                <a:schemeClr val="dk1"/>
              </a:solidFill>
              <a:latin typeface="Calibri"/>
              <a:ea typeface="Calibri"/>
              <a:cs typeface="Calibri"/>
              <a:sym typeface="Calibri"/>
            </a:endParaRPr>
          </a:p>
        </p:txBody>
      </p:sp>
      <p:sp>
        <p:nvSpPr>
          <p:cNvPr id="318" name="Google Shape;318;p11"/>
          <p:cNvSpPr/>
          <p:nvPr/>
        </p:nvSpPr>
        <p:spPr>
          <a:xfrm>
            <a:off x="548640" y="5349240"/>
            <a:ext cx="11064240" cy="100584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548640" y="5349240"/>
            <a:ext cx="73152" cy="10058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868680" y="5440680"/>
            <a:ext cx="106070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NO DATA LEAKAGE. </a:t>
            </a:r>
            <a:r>
              <a:rPr b="0" i="0" lang="en-US" sz="1300" u="none" cap="none" strike="noStrike">
                <a:solidFill>
                  <a:srgbClr val="1F2937"/>
                </a:solidFill>
                <a:latin typeface="Calibri"/>
                <a:ea typeface="Calibri"/>
                <a:cs typeface="Calibri"/>
                <a:sym typeface="Calibri"/>
              </a:rPr>
              <a:t>Every median, category, and scaling range comes from the training data only. Validation and test reuse those values - they never compute their own.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5" name="Shape 325"/>
        <p:cNvGrpSpPr/>
        <p:nvPr/>
      </p:nvGrpSpPr>
      <p:grpSpPr>
        <a:xfrm>
          <a:off x="0" y="0"/>
          <a:ext cx="0" cy="0"/>
          <a:chOff x="0" y="0"/>
          <a:chExt cx="0" cy="0"/>
        </a:xfrm>
      </p:grpSpPr>
      <p:sp>
        <p:nvSpPr>
          <p:cNvPr id="326" name="Google Shape;326;p12"/>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328" name="Google Shape;328;p12"/>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10 / 12</a:t>
            </a:r>
            <a:endParaRPr b="0" i="0" sz="1000" u="none" cap="none" strike="noStrike">
              <a:solidFill>
                <a:schemeClr val="dk1"/>
              </a:solidFill>
              <a:latin typeface="Calibri"/>
              <a:ea typeface="Calibri"/>
              <a:cs typeface="Calibri"/>
              <a:sym typeface="Calibri"/>
            </a:endParaRPr>
          </a:p>
        </p:txBody>
      </p:sp>
      <p:pic>
        <p:nvPicPr>
          <p:cNvPr descr="preencoded.png" id="329" name="Google Shape;329;p12"/>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330" name="Google Shape;330;p12"/>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Six models, ranked</a:t>
            </a:r>
            <a:endParaRPr b="0" i="0" sz="3000" u="none" cap="none" strike="noStrike">
              <a:solidFill>
                <a:schemeClr val="dk1"/>
              </a:solidFill>
              <a:latin typeface="Calibri"/>
              <a:ea typeface="Calibri"/>
              <a:cs typeface="Calibri"/>
              <a:sym typeface="Calibri"/>
            </a:endParaRPr>
          </a:p>
        </p:txBody>
      </p:sp>
      <p:sp>
        <p:nvSpPr>
          <p:cNvPr id="331" name="Google Shape;331;p12"/>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p:nvPr/>
        </p:nvSpPr>
        <p:spPr>
          <a:xfrm>
            <a:off x="548640" y="128016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ROC-AUC on the locked test set, sorted high to low</a:t>
            </a:r>
            <a:endParaRPr b="0" i="0" sz="1300" u="none" cap="none" strike="noStrike">
              <a:solidFill>
                <a:schemeClr val="dk1"/>
              </a:solidFill>
              <a:latin typeface="Calibri"/>
              <a:ea typeface="Calibri"/>
              <a:cs typeface="Calibri"/>
              <a:sym typeface="Calibri"/>
            </a:endParaRPr>
          </a:p>
        </p:txBody>
      </p:sp>
      <p:sp>
        <p:nvSpPr>
          <p:cNvPr id="333" name="Google Shape;333;p12"/>
          <p:cNvSpPr/>
          <p:nvPr/>
        </p:nvSpPr>
        <p:spPr>
          <a:xfrm>
            <a:off x="7680960" y="1691640"/>
            <a:ext cx="3931920" cy="219456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7680960" y="1691640"/>
            <a:ext cx="73152" cy="219456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
          <p:cNvSpPr/>
          <p:nvPr/>
        </p:nvSpPr>
        <p:spPr>
          <a:xfrm>
            <a:off x="7955280" y="1783080"/>
            <a:ext cx="3566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100"/>
              <a:buFont typeface="Calibri"/>
              <a:buNone/>
            </a:pPr>
            <a:r>
              <a:rPr b="1" i="0" lang="en-US" sz="1100" u="none" cap="none" strike="noStrike">
                <a:solidFill>
                  <a:srgbClr val="B85042"/>
                </a:solidFill>
                <a:latin typeface="Calibri"/>
                <a:ea typeface="Calibri"/>
                <a:cs typeface="Calibri"/>
                <a:sym typeface="Calibri"/>
              </a:rPr>
              <a:t>What I noticed</a:t>
            </a:r>
            <a:endParaRPr b="0" i="0" sz="1100" u="none" cap="none" strike="noStrike">
              <a:solidFill>
                <a:schemeClr val="dk1"/>
              </a:solidFill>
              <a:latin typeface="Calibri"/>
              <a:ea typeface="Calibri"/>
              <a:cs typeface="Calibri"/>
              <a:sym typeface="Calibri"/>
            </a:endParaRPr>
          </a:p>
        </p:txBody>
      </p:sp>
      <p:sp>
        <p:nvSpPr>
          <p:cNvPr id="336" name="Google Shape;336;p12"/>
          <p:cNvSpPr/>
          <p:nvPr/>
        </p:nvSpPr>
        <p:spPr>
          <a:xfrm>
            <a:off x="7955280" y="2103120"/>
            <a:ext cx="3566160" cy="16916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Tree models took the top 3 spots</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Linear models ~5 points behind</a:t>
            </a:r>
            <a:endParaRPr b="0" i="0" sz="13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1F2937"/>
              </a:buClr>
              <a:buSzPts val="1300"/>
              <a:buFont typeface="Calibri"/>
              <a:buChar char="•"/>
            </a:pPr>
            <a:r>
              <a:rPr b="0" i="0" lang="en-US" sz="1300" u="none" cap="none" strike="noStrike">
                <a:solidFill>
                  <a:srgbClr val="1F2937"/>
                </a:solidFill>
                <a:latin typeface="Calibri"/>
                <a:ea typeface="Calibri"/>
                <a:cs typeface="Calibri"/>
                <a:sym typeface="Calibri"/>
              </a:rPr>
              <a:t>Validation and test almost identical (no overfitting)</a:t>
            </a:r>
            <a:endParaRPr b="0" i="0" sz="1300" u="none" cap="none" strike="noStrike">
              <a:solidFill>
                <a:schemeClr val="dk1"/>
              </a:solidFill>
              <a:latin typeface="Calibri"/>
              <a:ea typeface="Calibri"/>
              <a:cs typeface="Calibri"/>
              <a:sym typeface="Calibri"/>
            </a:endParaRPr>
          </a:p>
        </p:txBody>
      </p:sp>
      <p:sp>
        <p:nvSpPr>
          <p:cNvPr id="337" name="Google Shape;337;p12"/>
          <p:cNvSpPr/>
          <p:nvPr/>
        </p:nvSpPr>
        <p:spPr>
          <a:xfrm>
            <a:off x="7680960" y="4023360"/>
            <a:ext cx="3931920" cy="237744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7955280" y="4160520"/>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Why trees won</a:t>
            </a:r>
            <a:endParaRPr b="0" i="0" sz="1400" u="none" cap="none" strike="noStrike">
              <a:solidFill>
                <a:schemeClr val="dk1"/>
              </a:solidFill>
              <a:latin typeface="Calibri"/>
              <a:ea typeface="Calibri"/>
              <a:cs typeface="Calibri"/>
              <a:sym typeface="Calibri"/>
            </a:endParaRPr>
          </a:p>
        </p:txBody>
      </p:sp>
      <p:sp>
        <p:nvSpPr>
          <p:cNvPr id="339" name="Google Shape;339;p12"/>
          <p:cNvSpPr/>
          <p:nvPr/>
        </p:nvSpPr>
        <p:spPr>
          <a:xfrm>
            <a:off x="7955280" y="4526280"/>
            <a:ext cx="3566160" cy="18288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Default depends on combinations of features</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2937"/>
              </a:buClr>
              <a:buSzPts val="1200"/>
              <a:buFont typeface="Calibri"/>
              <a:buChar char="•"/>
            </a:pPr>
            <a:r>
              <a:rPr b="0" i="1" lang="en-US" sz="1200" u="none" cap="none" strike="noStrike">
                <a:solidFill>
                  <a:srgbClr val="1F2937"/>
                </a:solidFill>
                <a:latin typeface="Calibri"/>
                <a:ea typeface="Calibri"/>
                <a:cs typeface="Calibri"/>
                <a:sym typeface="Calibri"/>
              </a:rPr>
              <a:t>(grade × income × loan size, etc.)</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Trees handle those combos naturally</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F2937"/>
              </a:buClr>
              <a:buSzPts val="1200"/>
              <a:buFont typeface="Calibri"/>
              <a:buChar char="•"/>
            </a:pPr>
            <a:r>
              <a:rPr b="0" i="0" lang="en-US" sz="1200" u="none" cap="none" strike="noStrike">
                <a:solidFill>
                  <a:srgbClr val="1F2937"/>
                </a:solidFill>
                <a:latin typeface="Calibri"/>
                <a:ea typeface="Calibri"/>
                <a:cs typeface="Calibri"/>
                <a:sym typeface="Calibri"/>
              </a:rPr>
              <a:t>Linear models can only draw a straight line</a:t>
            </a:r>
            <a:endParaRPr b="0" i="0" sz="1200" u="none" cap="none" strike="noStrike">
              <a:solidFill>
                <a:schemeClr val="dk1"/>
              </a:solidFill>
              <a:latin typeface="Calibri"/>
              <a:ea typeface="Calibri"/>
              <a:cs typeface="Calibri"/>
              <a:sym typeface="Calibri"/>
            </a:endParaRPr>
          </a:p>
        </p:txBody>
      </p:sp>
      <p:pic>
        <p:nvPicPr>
          <p:cNvPr descr="/home/claude/ranked_models_chart.png" id="340" name="Google Shape;340;p12"/>
          <p:cNvPicPr preferRelativeResize="0"/>
          <p:nvPr/>
        </p:nvPicPr>
        <p:blipFill rotWithShape="1">
          <a:blip r:embed="rId4">
            <a:alphaModFix/>
          </a:blip>
          <a:srcRect b="0" l="0" r="0" t="0"/>
          <a:stretch/>
        </p:blipFill>
        <p:spPr>
          <a:xfrm>
            <a:off x="548640" y="1691640"/>
            <a:ext cx="6857998" cy="47091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5" name="Shape 345"/>
        <p:cNvGrpSpPr/>
        <p:nvPr/>
      </p:nvGrpSpPr>
      <p:grpSpPr>
        <a:xfrm>
          <a:off x="0" y="0"/>
          <a:ext cx="0" cy="0"/>
          <a:chOff x="0" y="0"/>
          <a:chExt cx="0" cy="0"/>
        </a:xfrm>
      </p:grpSpPr>
      <p:sp>
        <p:nvSpPr>
          <p:cNvPr id="346" name="Google Shape;346;p13"/>
          <p:cNvSpPr/>
          <p:nvPr/>
        </p:nvSpPr>
        <p:spPr>
          <a:xfrm>
            <a:off x="0" y="6537960"/>
            <a:ext cx="12191695" cy="320040"/>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a:off x="457200" y="656539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Credit Risk Final Project</a:t>
            </a:r>
            <a:endParaRPr b="0" i="0" sz="1000" u="none" cap="none" strike="noStrike">
              <a:solidFill>
                <a:schemeClr val="dk1"/>
              </a:solidFill>
              <a:latin typeface="Calibri"/>
              <a:ea typeface="Calibri"/>
              <a:cs typeface="Calibri"/>
              <a:sym typeface="Calibri"/>
            </a:endParaRPr>
          </a:p>
        </p:txBody>
      </p:sp>
      <p:sp>
        <p:nvSpPr>
          <p:cNvPr id="348" name="Google Shape;348;p13"/>
          <p:cNvSpPr/>
          <p:nvPr/>
        </p:nvSpPr>
        <p:spPr>
          <a:xfrm>
            <a:off x="10820095" y="6565392"/>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11 / 12</a:t>
            </a:r>
            <a:endParaRPr b="0" i="0" sz="1000" u="none" cap="none" strike="noStrike">
              <a:solidFill>
                <a:schemeClr val="dk1"/>
              </a:solidFill>
              <a:latin typeface="Calibri"/>
              <a:ea typeface="Calibri"/>
              <a:cs typeface="Calibri"/>
              <a:sym typeface="Calibri"/>
            </a:endParaRPr>
          </a:p>
        </p:txBody>
      </p:sp>
      <p:pic>
        <p:nvPicPr>
          <p:cNvPr descr="preencoded.png" id="349" name="Google Shape;349;p13"/>
          <p:cNvPicPr preferRelativeResize="0"/>
          <p:nvPr/>
        </p:nvPicPr>
        <p:blipFill rotWithShape="1">
          <a:blip r:embed="rId3">
            <a:alphaModFix/>
          </a:blip>
          <a:srcRect b="0" l="0" r="0" t="0"/>
          <a:stretch/>
        </p:blipFill>
        <p:spPr>
          <a:xfrm>
            <a:off x="502920" y="411480"/>
            <a:ext cx="502920" cy="502920"/>
          </a:xfrm>
          <a:prstGeom prst="rect">
            <a:avLst/>
          </a:prstGeom>
          <a:noFill/>
          <a:ln>
            <a:noFill/>
          </a:ln>
        </p:spPr>
      </p:pic>
      <p:sp>
        <p:nvSpPr>
          <p:cNvPr id="350" name="Google Shape;350;p13"/>
          <p:cNvSpPr/>
          <p:nvPr/>
        </p:nvSpPr>
        <p:spPr>
          <a:xfrm>
            <a:off x="1143000" y="384048"/>
            <a:ext cx="105914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libri"/>
              <a:buNone/>
            </a:pPr>
            <a:r>
              <a:rPr b="1" i="0" lang="en-US" sz="3000" u="none" cap="none" strike="noStrike">
                <a:solidFill>
                  <a:srgbClr val="1E2761"/>
                </a:solidFill>
                <a:latin typeface="Calibri"/>
                <a:ea typeface="Calibri"/>
                <a:cs typeface="Calibri"/>
                <a:sym typeface="Calibri"/>
              </a:rPr>
              <a:t>Combining models: a surprise</a:t>
            </a:r>
            <a:endParaRPr b="0" i="0" sz="3000" u="none" cap="none" strike="noStrike">
              <a:solidFill>
                <a:schemeClr val="dk1"/>
              </a:solidFill>
              <a:latin typeface="Calibri"/>
              <a:ea typeface="Calibri"/>
              <a:cs typeface="Calibri"/>
              <a:sym typeface="Calibri"/>
            </a:endParaRPr>
          </a:p>
        </p:txBody>
      </p:sp>
      <p:sp>
        <p:nvSpPr>
          <p:cNvPr id="351" name="Google Shape;351;p13"/>
          <p:cNvSpPr/>
          <p:nvPr/>
        </p:nvSpPr>
        <p:spPr>
          <a:xfrm>
            <a:off x="502920" y="1051560"/>
            <a:ext cx="91440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548640" y="1417320"/>
            <a:ext cx="5532120" cy="493776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822960" y="15544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Try 1: Voting Ensemble</a:t>
            </a:r>
            <a:endParaRPr b="0" i="0" sz="1800" u="none" cap="none" strike="noStrike">
              <a:solidFill>
                <a:schemeClr val="dk1"/>
              </a:solidFill>
              <a:latin typeface="Calibri"/>
              <a:ea typeface="Calibri"/>
              <a:cs typeface="Calibri"/>
              <a:sym typeface="Calibri"/>
            </a:endParaRPr>
          </a:p>
        </p:txBody>
      </p:sp>
      <p:sp>
        <p:nvSpPr>
          <p:cNvPr id="354" name="Google Shape;354;p13"/>
          <p:cNvSpPr/>
          <p:nvPr/>
        </p:nvSpPr>
        <p:spPr>
          <a:xfrm>
            <a:off x="822960" y="1920240"/>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Top 3 models · majority vote wins</a:t>
            </a:r>
            <a:endParaRPr b="0" i="0" sz="1300" u="none" cap="none" strike="noStrike">
              <a:solidFill>
                <a:schemeClr val="dk1"/>
              </a:solidFill>
              <a:latin typeface="Calibri"/>
              <a:ea typeface="Calibri"/>
              <a:cs typeface="Calibri"/>
              <a:sym typeface="Calibri"/>
            </a:endParaRPr>
          </a:p>
        </p:txBody>
      </p:sp>
      <p:sp>
        <p:nvSpPr>
          <p:cNvPr id="355" name="Google Shape;355;p13"/>
          <p:cNvSpPr/>
          <p:nvPr/>
        </p:nvSpPr>
        <p:spPr>
          <a:xfrm>
            <a:off x="822960" y="23317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Accuracy</a:t>
            </a:r>
            <a:endParaRPr b="0" i="0" sz="1400" u="none" cap="none" strike="noStrike">
              <a:solidFill>
                <a:schemeClr val="dk1"/>
              </a:solidFill>
              <a:latin typeface="Calibri"/>
              <a:ea typeface="Calibri"/>
              <a:cs typeface="Calibri"/>
              <a:sym typeface="Calibri"/>
            </a:endParaRPr>
          </a:p>
        </p:txBody>
      </p:sp>
      <p:sp>
        <p:nvSpPr>
          <p:cNvPr id="356" name="Google Shape;356;p13"/>
          <p:cNvSpPr/>
          <p:nvPr/>
        </p:nvSpPr>
        <p:spPr>
          <a:xfrm>
            <a:off x="3200400" y="23317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0.9351</a:t>
            </a:r>
            <a:endParaRPr b="0" i="0" sz="1800" u="none" cap="none" strike="noStrike">
              <a:solidFill>
                <a:schemeClr val="dk1"/>
              </a:solidFill>
              <a:latin typeface="Calibri"/>
              <a:ea typeface="Calibri"/>
              <a:cs typeface="Calibri"/>
              <a:sym typeface="Calibri"/>
            </a:endParaRPr>
          </a:p>
        </p:txBody>
      </p:sp>
      <p:sp>
        <p:nvSpPr>
          <p:cNvPr id="357" name="Google Shape;357;p13"/>
          <p:cNvSpPr/>
          <p:nvPr/>
        </p:nvSpPr>
        <p:spPr>
          <a:xfrm>
            <a:off x="822960" y="27889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F1-Score</a:t>
            </a:r>
            <a:endParaRPr b="0" i="0" sz="1400" u="none" cap="none" strike="noStrike">
              <a:solidFill>
                <a:schemeClr val="dk1"/>
              </a:solidFill>
              <a:latin typeface="Calibri"/>
              <a:ea typeface="Calibri"/>
              <a:cs typeface="Calibri"/>
              <a:sym typeface="Calibri"/>
            </a:endParaRPr>
          </a:p>
        </p:txBody>
      </p:sp>
      <p:sp>
        <p:nvSpPr>
          <p:cNvPr id="358" name="Google Shape;358;p13"/>
          <p:cNvSpPr/>
          <p:nvPr/>
        </p:nvSpPr>
        <p:spPr>
          <a:xfrm>
            <a:off x="3200400" y="27889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0.8289</a:t>
            </a:r>
            <a:endParaRPr b="0" i="0" sz="1800" u="none" cap="none" strike="noStrike">
              <a:solidFill>
                <a:schemeClr val="dk1"/>
              </a:solidFill>
              <a:latin typeface="Calibri"/>
              <a:ea typeface="Calibri"/>
              <a:cs typeface="Calibri"/>
              <a:sym typeface="Calibri"/>
            </a:endParaRPr>
          </a:p>
        </p:txBody>
      </p:sp>
      <p:sp>
        <p:nvSpPr>
          <p:cNvPr id="359" name="Google Shape;359;p13"/>
          <p:cNvSpPr/>
          <p:nvPr/>
        </p:nvSpPr>
        <p:spPr>
          <a:xfrm>
            <a:off x="822960" y="32461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ROC-AUC</a:t>
            </a:r>
            <a:endParaRPr b="0" i="0" sz="1400" u="none" cap="none" strike="noStrike">
              <a:solidFill>
                <a:schemeClr val="dk1"/>
              </a:solidFill>
              <a:latin typeface="Calibri"/>
              <a:ea typeface="Calibri"/>
              <a:cs typeface="Calibri"/>
              <a:sym typeface="Calibri"/>
            </a:endParaRPr>
          </a:p>
        </p:txBody>
      </p:sp>
      <p:sp>
        <p:nvSpPr>
          <p:cNvPr id="360" name="Google Shape;360;p13"/>
          <p:cNvSpPr/>
          <p:nvPr/>
        </p:nvSpPr>
        <p:spPr>
          <a:xfrm>
            <a:off x="3200400" y="32461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800"/>
              <a:buFont typeface="Calibri"/>
              <a:buNone/>
            </a:pPr>
            <a:r>
              <a:rPr b="1" i="0" lang="en-US" sz="1800" u="none" cap="none" strike="noStrike">
                <a:solidFill>
                  <a:srgbClr val="B85042"/>
                </a:solidFill>
                <a:latin typeface="Calibri"/>
                <a:ea typeface="Calibri"/>
                <a:cs typeface="Calibri"/>
                <a:sym typeface="Calibri"/>
              </a:rPr>
              <a:t>0.8575</a:t>
            </a:r>
            <a:endParaRPr b="0" i="0" sz="1800" u="none" cap="none" strike="noStrike">
              <a:solidFill>
                <a:schemeClr val="dk1"/>
              </a:solidFill>
              <a:latin typeface="Calibri"/>
              <a:ea typeface="Calibri"/>
              <a:cs typeface="Calibri"/>
              <a:sym typeface="Calibri"/>
            </a:endParaRPr>
          </a:p>
        </p:txBody>
      </p:sp>
      <p:sp>
        <p:nvSpPr>
          <p:cNvPr id="361" name="Google Shape;361;p13"/>
          <p:cNvSpPr/>
          <p:nvPr/>
        </p:nvSpPr>
        <p:spPr>
          <a:xfrm>
            <a:off x="822960" y="3931920"/>
            <a:ext cx="54864" cy="219456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1005840" y="3931920"/>
            <a:ext cx="4937760"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400"/>
              <a:buFont typeface="Calibri"/>
              <a:buNone/>
            </a:pPr>
            <a:r>
              <a:rPr b="1" i="0" lang="en-US" sz="1400" u="none" cap="none" strike="noStrike">
                <a:solidFill>
                  <a:srgbClr val="B85042"/>
                </a:solidFill>
                <a:latin typeface="Calibri"/>
                <a:ea typeface="Calibri"/>
                <a:cs typeface="Calibri"/>
                <a:sym typeface="Calibri"/>
              </a:rPr>
              <a:t>Surprise!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I assumed combining models always helped every metric.</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F1 and accuracy went UP, but ROC-AUC went DOWN.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1" lang="en-US" sz="1300" u="none" cap="none" strike="noStrike">
                <a:solidFill>
                  <a:srgbClr val="1F2937"/>
                </a:solidFill>
                <a:latin typeface="Calibri"/>
                <a:ea typeface="Calibri"/>
                <a:cs typeface="Calibri"/>
                <a:sym typeface="Calibri"/>
              </a:rPr>
              <a:t>Why? Hard voting only outputs yes/no - no confidence score for ROC-AUC to use.</a:t>
            </a:r>
            <a:endParaRPr b="0" i="0" sz="1300" u="none" cap="none" strike="noStrike">
              <a:solidFill>
                <a:schemeClr val="dk1"/>
              </a:solidFill>
              <a:latin typeface="Calibri"/>
              <a:ea typeface="Calibri"/>
              <a:cs typeface="Calibri"/>
              <a:sym typeface="Calibri"/>
            </a:endParaRPr>
          </a:p>
        </p:txBody>
      </p:sp>
      <p:sp>
        <p:nvSpPr>
          <p:cNvPr id="363" name="Google Shape;363;p13"/>
          <p:cNvSpPr/>
          <p:nvPr/>
        </p:nvSpPr>
        <p:spPr>
          <a:xfrm>
            <a:off x="6263640" y="1417320"/>
            <a:ext cx="5349240" cy="4937760"/>
          </a:xfrm>
          <a:prstGeom prst="rect">
            <a:avLst/>
          </a:prstGeom>
          <a:solidFill>
            <a:srgbClr val="FFFFFF"/>
          </a:solidFill>
          <a:ln cap="flat" cmpd="sng" w="12700">
            <a:solidFill>
              <a:srgbClr val="E5E7EB"/>
            </a:solidFill>
            <a:prstDash val="solid"/>
            <a:round/>
            <a:headEnd len="sm" w="sm" type="none"/>
            <a:tailEnd len="sm" w="sm" type="none"/>
          </a:ln>
          <a:effectLst>
            <a:outerShdw blurRad="76200" rotWithShape="0" algn="bl" dir="5400000" dist="254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p:nvPr/>
        </p:nvSpPr>
        <p:spPr>
          <a:xfrm>
            <a:off x="6263640" y="1417320"/>
            <a:ext cx="73152" cy="493776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a:off x="6537960" y="155448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Try 2: Weighted average</a:t>
            </a:r>
            <a:endParaRPr b="0" i="0" sz="1800" u="none" cap="none" strike="noStrike">
              <a:solidFill>
                <a:schemeClr val="dk1"/>
              </a:solidFill>
              <a:latin typeface="Calibri"/>
              <a:ea typeface="Calibri"/>
              <a:cs typeface="Calibri"/>
              <a:sym typeface="Calibri"/>
            </a:endParaRPr>
          </a:p>
        </p:txBody>
      </p:sp>
      <p:sp>
        <p:nvSpPr>
          <p:cNvPr id="366" name="Google Shape;366;p13"/>
          <p:cNvSpPr/>
          <p:nvPr/>
        </p:nvSpPr>
        <p:spPr>
          <a:xfrm>
            <a:off x="6537960" y="192024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Same 3 models · average their confidence scores</a:t>
            </a:r>
            <a:endParaRPr b="0" i="0" sz="1300" u="none" cap="none" strike="noStrike">
              <a:solidFill>
                <a:schemeClr val="dk1"/>
              </a:solidFill>
              <a:latin typeface="Calibri"/>
              <a:ea typeface="Calibri"/>
              <a:cs typeface="Calibri"/>
              <a:sym typeface="Calibri"/>
            </a:endParaRPr>
          </a:p>
        </p:txBody>
      </p:sp>
      <p:sp>
        <p:nvSpPr>
          <p:cNvPr id="367" name="Google Shape;367;p13"/>
          <p:cNvSpPr/>
          <p:nvPr/>
        </p:nvSpPr>
        <p:spPr>
          <a:xfrm>
            <a:off x="6537960" y="23317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Accuracy</a:t>
            </a:r>
            <a:endParaRPr b="0" i="0" sz="1400" u="none" cap="none" strike="noStrike">
              <a:solidFill>
                <a:schemeClr val="dk1"/>
              </a:solidFill>
              <a:latin typeface="Calibri"/>
              <a:ea typeface="Calibri"/>
              <a:cs typeface="Calibri"/>
              <a:sym typeface="Calibri"/>
            </a:endParaRPr>
          </a:p>
        </p:txBody>
      </p:sp>
      <p:sp>
        <p:nvSpPr>
          <p:cNvPr id="368" name="Google Shape;368;p13"/>
          <p:cNvSpPr/>
          <p:nvPr/>
        </p:nvSpPr>
        <p:spPr>
          <a:xfrm>
            <a:off x="8869680" y="23317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0.9339</a:t>
            </a:r>
            <a:endParaRPr b="0" i="0" sz="1800" u="none" cap="none" strike="noStrike">
              <a:solidFill>
                <a:schemeClr val="dk1"/>
              </a:solidFill>
              <a:latin typeface="Calibri"/>
              <a:ea typeface="Calibri"/>
              <a:cs typeface="Calibri"/>
              <a:sym typeface="Calibri"/>
            </a:endParaRPr>
          </a:p>
        </p:txBody>
      </p:sp>
      <p:sp>
        <p:nvSpPr>
          <p:cNvPr id="369" name="Google Shape;369;p13"/>
          <p:cNvSpPr/>
          <p:nvPr/>
        </p:nvSpPr>
        <p:spPr>
          <a:xfrm>
            <a:off x="6537960" y="27889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F1-Score</a:t>
            </a:r>
            <a:endParaRPr b="0" i="0" sz="1400" u="none" cap="none" strike="noStrike">
              <a:solidFill>
                <a:schemeClr val="dk1"/>
              </a:solidFill>
              <a:latin typeface="Calibri"/>
              <a:ea typeface="Calibri"/>
              <a:cs typeface="Calibri"/>
              <a:sym typeface="Calibri"/>
            </a:endParaRPr>
          </a:p>
        </p:txBody>
      </p:sp>
      <p:sp>
        <p:nvSpPr>
          <p:cNvPr id="370" name="Google Shape;370;p13"/>
          <p:cNvSpPr/>
          <p:nvPr/>
        </p:nvSpPr>
        <p:spPr>
          <a:xfrm>
            <a:off x="8869680" y="27889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800"/>
              <a:buFont typeface="Calibri"/>
              <a:buNone/>
            </a:pPr>
            <a:r>
              <a:rPr b="1" i="0" lang="en-US" sz="1800" u="none" cap="none" strike="noStrike">
                <a:solidFill>
                  <a:srgbClr val="1E2761"/>
                </a:solidFill>
                <a:latin typeface="Calibri"/>
                <a:ea typeface="Calibri"/>
                <a:cs typeface="Calibri"/>
                <a:sym typeface="Calibri"/>
              </a:rPr>
              <a:t>0.8259</a:t>
            </a:r>
            <a:endParaRPr b="0" i="0" sz="1800" u="none" cap="none" strike="noStrike">
              <a:solidFill>
                <a:schemeClr val="dk1"/>
              </a:solidFill>
              <a:latin typeface="Calibri"/>
              <a:ea typeface="Calibri"/>
              <a:cs typeface="Calibri"/>
              <a:sym typeface="Calibri"/>
            </a:endParaRPr>
          </a:p>
        </p:txBody>
      </p:sp>
      <p:sp>
        <p:nvSpPr>
          <p:cNvPr id="371" name="Google Shape;371;p13"/>
          <p:cNvSpPr/>
          <p:nvPr/>
        </p:nvSpPr>
        <p:spPr>
          <a:xfrm>
            <a:off x="6537960" y="32461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ROC-AUC</a:t>
            </a:r>
            <a:endParaRPr b="0" i="0" sz="1400" u="none" cap="none" strike="noStrike">
              <a:solidFill>
                <a:schemeClr val="dk1"/>
              </a:solidFill>
              <a:latin typeface="Calibri"/>
              <a:ea typeface="Calibri"/>
              <a:cs typeface="Calibri"/>
              <a:sym typeface="Calibri"/>
            </a:endParaRPr>
          </a:p>
        </p:txBody>
      </p:sp>
      <p:sp>
        <p:nvSpPr>
          <p:cNvPr id="372" name="Google Shape;372;p13"/>
          <p:cNvSpPr/>
          <p:nvPr/>
        </p:nvSpPr>
        <p:spPr>
          <a:xfrm>
            <a:off x="8869680" y="324612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800"/>
              <a:buFont typeface="Calibri"/>
              <a:buNone/>
            </a:pPr>
            <a:r>
              <a:rPr b="1" i="0" lang="en-US" sz="1800" u="none" cap="none" strike="noStrike">
                <a:solidFill>
                  <a:srgbClr val="B85042"/>
                </a:solidFill>
                <a:latin typeface="Calibri"/>
                <a:ea typeface="Calibri"/>
                <a:cs typeface="Calibri"/>
                <a:sym typeface="Calibri"/>
              </a:rPr>
              <a:t>0.9316</a:t>
            </a:r>
            <a:endParaRPr b="0" i="0" sz="1800" u="none" cap="none" strike="noStrike">
              <a:solidFill>
                <a:schemeClr val="dk1"/>
              </a:solidFill>
              <a:latin typeface="Calibri"/>
              <a:ea typeface="Calibri"/>
              <a:cs typeface="Calibri"/>
              <a:sym typeface="Calibri"/>
            </a:endParaRPr>
          </a:p>
        </p:txBody>
      </p:sp>
      <p:sp>
        <p:nvSpPr>
          <p:cNvPr id="373" name="Google Shape;373;p13"/>
          <p:cNvSpPr/>
          <p:nvPr/>
        </p:nvSpPr>
        <p:spPr>
          <a:xfrm>
            <a:off x="6537960" y="3931920"/>
            <a:ext cx="4937760"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85042"/>
              </a:buClr>
              <a:buSzPts val="1400"/>
              <a:buFont typeface="Calibri"/>
              <a:buNone/>
            </a:pPr>
            <a:r>
              <a:rPr b="1" i="0" lang="en-US" sz="1400" u="none" cap="none" strike="noStrike">
                <a:solidFill>
                  <a:srgbClr val="B85042"/>
                </a:solidFill>
                <a:latin typeface="Calibri"/>
                <a:ea typeface="Calibri"/>
                <a:cs typeface="Calibri"/>
                <a:sym typeface="Calibri"/>
              </a:rPr>
              <a:t>Fix:</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Average the continuous confidence scores instead of voting yes/no.</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300"/>
              <a:buFont typeface="Calibri"/>
              <a:buNone/>
            </a:pPr>
            <a:r>
              <a:rPr b="0" i="0" lang="en-US" sz="1300" u="none" cap="none" strike="noStrike">
                <a:solidFill>
                  <a:srgbClr val="1F2937"/>
                </a:solidFill>
                <a:latin typeface="Calibri"/>
                <a:ea typeface="Calibri"/>
                <a:cs typeface="Calibri"/>
                <a:sym typeface="Calibri"/>
              </a:rPr>
              <a:t>Better-performing models get slightly heavier weights.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300"/>
              <a:buFont typeface="Calibri"/>
              <a:buNone/>
            </a:pPr>
            <a:r>
              <a:rPr b="1" i="1" lang="en-US" sz="1300" u="none" cap="none" strike="noStrike">
                <a:solidFill>
                  <a:srgbClr val="1E2761"/>
                </a:solidFill>
                <a:latin typeface="Calibri"/>
                <a:ea typeface="Calibri"/>
                <a:cs typeface="Calibri"/>
                <a:sym typeface="Calibri"/>
              </a:rPr>
              <a:t>Same models, different combination - +0.07 ROC-AUC recovered.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78" name="Shape 378"/>
        <p:cNvGrpSpPr/>
        <p:nvPr/>
      </p:nvGrpSpPr>
      <p:grpSpPr>
        <a:xfrm>
          <a:off x="0" y="0"/>
          <a:ext cx="0" cy="0"/>
          <a:chOff x="0" y="0"/>
          <a:chExt cx="0" cy="0"/>
        </a:xfrm>
      </p:grpSpPr>
      <p:sp>
        <p:nvSpPr>
          <p:cNvPr id="379" name="Google Shape;379;p14"/>
          <p:cNvSpPr/>
          <p:nvPr/>
        </p:nvSpPr>
        <p:spPr>
          <a:xfrm>
            <a:off x="0" y="0"/>
            <a:ext cx="164592" cy="6858000"/>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a:off x="822960" y="640080"/>
            <a:ext cx="10515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What I learned</a:t>
            </a:r>
            <a:endParaRPr b="0" i="0" sz="4000" u="none" cap="none" strike="noStrike">
              <a:solidFill>
                <a:schemeClr val="dk1"/>
              </a:solidFill>
              <a:latin typeface="Calibri"/>
              <a:ea typeface="Calibri"/>
              <a:cs typeface="Calibri"/>
              <a:sym typeface="Calibri"/>
            </a:endParaRPr>
          </a:p>
        </p:txBody>
      </p:sp>
      <p:sp>
        <p:nvSpPr>
          <p:cNvPr id="381" name="Google Shape;381;p14"/>
          <p:cNvSpPr/>
          <p:nvPr/>
        </p:nvSpPr>
        <p:spPr>
          <a:xfrm>
            <a:off x="822960" y="1417320"/>
            <a:ext cx="1097280" cy="36576"/>
          </a:xfrm>
          <a:prstGeom prst="rect">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p:nvPr/>
        </p:nvSpPr>
        <p:spPr>
          <a:xfrm>
            <a:off x="822960" y="1920240"/>
            <a:ext cx="3520440" cy="3383280"/>
          </a:xfrm>
          <a:prstGeom prst="rect">
            <a:avLst/>
          </a:prstGeom>
          <a:solidFill>
            <a:srgbClr val="141B45"/>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1097280" y="2194560"/>
            <a:ext cx="640080" cy="64008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a:off x="1097280" y="219456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1</a:t>
            </a:r>
            <a:endParaRPr b="0" i="0" sz="2400" u="none" cap="none" strike="noStrike">
              <a:solidFill>
                <a:schemeClr val="dk1"/>
              </a:solidFill>
              <a:latin typeface="Calibri"/>
              <a:ea typeface="Calibri"/>
              <a:cs typeface="Calibri"/>
              <a:sym typeface="Calibri"/>
            </a:endParaRPr>
          </a:p>
        </p:txBody>
      </p:sp>
      <p:sp>
        <p:nvSpPr>
          <p:cNvPr id="385" name="Google Shape;385;p14"/>
          <p:cNvSpPr/>
          <p:nvPr/>
        </p:nvSpPr>
        <p:spPr>
          <a:xfrm>
            <a:off x="1097280" y="3017520"/>
            <a:ext cx="297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Cleaning &gt; modeling</a:t>
            </a:r>
            <a:endParaRPr b="0" i="0" sz="2000" u="none" cap="none" strike="noStrike">
              <a:solidFill>
                <a:schemeClr val="dk1"/>
              </a:solidFill>
              <a:latin typeface="Calibri"/>
              <a:ea typeface="Calibri"/>
              <a:cs typeface="Calibri"/>
              <a:sym typeface="Calibri"/>
            </a:endParaRPr>
          </a:p>
        </p:txBody>
      </p:sp>
      <p:sp>
        <p:nvSpPr>
          <p:cNvPr id="386" name="Google Shape;386;p14"/>
          <p:cNvSpPr/>
          <p:nvPr/>
        </p:nvSpPr>
        <p:spPr>
          <a:xfrm>
            <a:off x="1097280" y="3520440"/>
            <a:ext cx="297180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Most of the real improvement came from preprocessing - log transforms, imputation, encoding choices - not from the model code.</a:t>
            </a:r>
            <a:endParaRPr b="0" i="0" sz="1300" u="none" cap="none" strike="noStrike">
              <a:solidFill>
                <a:schemeClr val="dk1"/>
              </a:solidFill>
              <a:latin typeface="Calibri"/>
              <a:ea typeface="Calibri"/>
              <a:cs typeface="Calibri"/>
              <a:sym typeface="Calibri"/>
            </a:endParaRPr>
          </a:p>
        </p:txBody>
      </p:sp>
      <p:sp>
        <p:nvSpPr>
          <p:cNvPr id="387" name="Google Shape;387;p14"/>
          <p:cNvSpPr/>
          <p:nvPr/>
        </p:nvSpPr>
        <p:spPr>
          <a:xfrm>
            <a:off x="4480560" y="1920240"/>
            <a:ext cx="3520440" cy="3383280"/>
          </a:xfrm>
          <a:prstGeom prst="rect">
            <a:avLst/>
          </a:prstGeom>
          <a:solidFill>
            <a:srgbClr val="141B45"/>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4754880" y="2194560"/>
            <a:ext cx="640080" cy="64008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4754880" y="219456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2</a:t>
            </a:r>
            <a:endParaRPr b="0" i="0" sz="2400" u="none" cap="none" strike="noStrike">
              <a:solidFill>
                <a:schemeClr val="dk1"/>
              </a:solidFill>
              <a:latin typeface="Calibri"/>
              <a:ea typeface="Calibri"/>
              <a:cs typeface="Calibri"/>
              <a:sym typeface="Calibri"/>
            </a:endParaRPr>
          </a:p>
        </p:txBody>
      </p:sp>
      <p:sp>
        <p:nvSpPr>
          <p:cNvPr id="390" name="Google Shape;390;p14"/>
          <p:cNvSpPr/>
          <p:nvPr/>
        </p:nvSpPr>
        <p:spPr>
          <a:xfrm>
            <a:off x="4754880" y="3017520"/>
            <a:ext cx="297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Discipline matters</a:t>
            </a:r>
            <a:endParaRPr b="0" i="0" sz="2000" u="none" cap="none" strike="noStrike">
              <a:solidFill>
                <a:schemeClr val="dk1"/>
              </a:solidFill>
              <a:latin typeface="Calibri"/>
              <a:ea typeface="Calibri"/>
              <a:cs typeface="Calibri"/>
              <a:sym typeface="Calibri"/>
            </a:endParaRPr>
          </a:p>
        </p:txBody>
      </p:sp>
      <p:sp>
        <p:nvSpPr>
          <p:cNvPr id="391" name="Google Shape;391;p14"/>
          <p:cNvSpPr/>
          <p:nvPr/>
        </p:nvSpPr>
        <p:spPr>
          <a:xfrm>
            <a:off x="4754880" y="3520440"/>
            <a:ext cx="297180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Training-only fits and a locked test set kept the metrics honest. The proof: validation and test scores nearly matched.</a:t>
            </a:r>
            <a:endParaRPr b="0" i="0" sz="1300" u="none" cap="none" strike="noStrike">
              <a:solidFill>
                <a:schemeClr val="dk1"/>
              </a:solidFill>
              <a:latin typeface="Calibri"/>
              <a:ea typeface="Calibri"/>
              <a:cs typeface="Calibri"/>
              <a:sym typeface="Calibri"/>
            </a:endParaRPr>
          </a:p>
        </p:txBody>
      </p:sp>
      <p:sp>
        <p:nvSpPr>
          <p:cNvPr id="392" name="Google Shape;392;p14"/>
          <p:cNvSpPr/>
          <p:nvPr/>
        </p:nvSpPr>
        <p:spPr>
          <a:xfrm>
            <a:off x="8138160" y="1920240"/>
            <a:ext cx="3520440" cy="3383280"/>
          </a:xfrm>
          <a:prstGeom prst="rect">
            <a:avLst/>
          </a:prstGeom>
          <a:solidFill>
            <a:srgbClr val="141B45"/>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8412480" y="2194560"/>
            <a:ext cx="640080" cy="640080"/>
          </a:xfrm>
          <a:prstGeom prst="ellipse">
            <a:avLst/>
          </a:prstGeom>
          <a:solidFill>
            <a:srgbClr val="B85042"/>
          </a:solidFill>
          <a:ln cap="flat" cmpd="sng" w="12700">
            <a:solidFill>
              <a:srgbClr val="B850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8412480" y="219456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3</a:t>
            </a:r>
            <a:endParaRPr b="0" i="0" sz="2400" u="none" cap="none" strike="noStrike">
              <a:solidFill>
                <a:schemeClr val="dk1"/>
              </a:solidFill>
              <a:latin typeface="Calibri"/>
              <a:ea typeface="Calibri"/>
              <a:cs typeface="Calibri"/>
              <a:sym typeface="Calibri"/>
            </a:endParaRPr>
          </a:p>
        </p:txBody>
      </p:sp>
      <p:sp>
        <p:nvSpPr>
          <p:cNvPr id="395" name="Google Shape;395;p14"/>
          <p:cNvSpPr/>
          <p:nvPr/>
        </p:nvSpPr>
        <p:spPr>
          <a:xfrm>
            <a:off x="8412480" y="3017520"/>
            <a:ext cx="297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Combining is subtle</a:t>
            </a:r>
            <a:endParaRPr b="0" i="0" sz="2000" u="none" cap="none" strike="noStrike">
              <a:solidFill>
                <a:schemeClr val="dk1"/>
              </a:solidFill>
              <a:latin typeface="Calibri"/>
              <a:ea typeface="Calibri"/>
              <a:cs typeface="Calibri"/>
              <a:sym typeface="Calibri"/>
            </a:endParaRPr>
          </a:p>
        </p:txBody>
      </p:sp>
      <p:sp>
        <p:nvSpPr>
          <p:cNvPr id="396" name="Google Shape;396;p14"/>
          <p:cNvSpPr/>
          <p:nvPr/>
        </p:nvSpPr>
        <p:spPr>
          <a:xfrm>
            <a:off x="8412480" y="3520440"/>
            <a:ext cx="297180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Hard voting helped F1 but hurt ROC-AUC. Weighted averaging fixed it. How you combine matters as much as what you combine.</a:t>
            </a:r>
            <a:endParaRPr b="0" i="0" sz="1300" u="none" cap="none" strike="noStrike">
              <a:solidFill>
                <a:schemeClr val="dk1"/>
              </a:solidFill>
              <a:latin typeface="Calibri"/>
              <a:ea typeface="Calibri"/>
              <a:cs typeface="Calibri"/>
              <a:sym typeface="Calibri"/>
            </a:endParaRPr>
          </a:p>
        </p:txBody>
      </p:sp>
      <p:sp>
        <p:nvSpPr>
          <p:cNvPr id="397" name="Google Shape;397;p14"/>
          <p:cNvSpPr/>
          <p:nvPr/>
        </p:nvSpPr>
        <p:spPr>
          <a:xfrm>
            <a:off x="822960" y="553212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5042"/>
              </a:buClr>
              <a:buSzPts val="1400"/>
              <a:buFont typeface="Calibri"/>
              <a:buNone/>
            </a:pPr>
            <a:r>
              <a:rPr b="1" i="1" lang="en-US" sz="1400" u="none" cap="none" strike="noStrike">
                <a:solidFill>
                  <a:srgbClr val="B85042"/>
                </a:solidFill>
                <a:latin typeface="Calibri"/>
                <a:ea typeface="Calibri"/>
                <a:cs typeface="Calibri"/>
                <a:sym typeface="Calibri"/>
              </a:rPr>
              <a:t>If I kept building: </a:t>
            </a:r>
            <a:r>
              <a:rPr b="0" i="1" lang="en-US" sz="1400" u="none" cap="none" strike="noStrike">
                <a:solidFill>
                  <a:srgbClr val="CADCFC"/>
                </a:solidFill>
                <a:latin typeface="Calibri"/>
                <a:ea typeface="Calibri"/>
                <a:cs typeface="Calibri"/>
                <a:sym typeface="Calibri"/>
              </a:rPr>
              <a:t>threshold tuning · feature importance · cross-validation · probability calibration · fairness analysis</a:t>
            </a:r>
            <a:endParaRPr b="0" i="0" sz="1400" u="none" cap="none" strike="noStrike">
              <a:solidFill>
                <a:schemeClr val="dk1"/>
              </a:solidFill>
              <a:latin typeface="Calibri"/>
              <a:ea typeface="Calibri"/>
              <a:cs typeface="Calibri"/>
              <a:sym typeface="Calibri"/>
            </a:endParaRPr>
          </a:p>
        </p:txBody>
      </p:sp>
      <p:sp>
        <p:nvSpPr>
          <p:cNvPr id="398" name="Google Shape;398;p14"/>
          <p:cNvSpPr/>
          <p:nvPr/>
        </p:nvSpPr>
        <p:spPr>
          <a:xfrm>
            <a:off x="822960" y="603504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0" i="1" lang="en-US" sz="3200" u="none" cap="none" strike="noStrike">
                <a:solidFill>
                  <a:srgbClr val="FFFFFF"/>
                </a:solidFill>
                <a:latin typeface="Calibri"/>
                <a:ea typeface="Calibri"/>
                <a:cs typeface="Calibri"/>
                <a:sym typeface="Calibri"/>
              </a:rPr>
              <a:t>Questions?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